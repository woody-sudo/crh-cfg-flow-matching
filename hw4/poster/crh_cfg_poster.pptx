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1945600" cy="329184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95" d="100"/>
          <a:sy n="95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Static w=2</c:v>
          </c:tx>
          <c:spPr>
            <a:solidFill>
              <a:srgbClr val="AEB8C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17223B"/>
                    </a:solidFill>
                  </a:defRPr>
                </a:pPr>
                <a:endParaRPr lang="zh-S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Smiling</c:v>
              </c:pt>
              <c:pt idx="1">
                <c:v>Bangs</c:v>
              </c:pt>
              <c:pt idx="2">
                <c:v>Blond Hair</c:v>
              </c:pt>
            </c:strLit>
          </c:cat>
          <c:val>
            <c:numLit>
              <c:formatCode>0.0</c:formatCode>
              <c:ptCount val="3"/>
              <c:pt idx="0">
                <c:v>98.5</c:v>
              </c:pt>
              <c:pt idx="1">
                <c:v>98</c:v>
              </c:pt>
              <c:pt idx="2">
                <c:v>98.7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EC5-B14A-9114-3A645FC5C258}"/>
            </c:ext>
          </c:extLst>
        </c:ser>
        <c:ser>
          <c:idx val="1"/>
          <c:order val="1"/>
          <c:tx>
            <c:v>Full CRH-CFG</c:v>
          </c:tx>
          <c:spPr>
            <a:solidFill>
              <a:srgbClr val="0D7C6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17223B"/>
                    </a:solidFill>
                  </a:defRPr>
                </a:pPr>
                <a:endParaRPr lang="zh-S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Smiling</c:v>
              </c:pt>
              <c:pt idx="1">
                <c:v>Bangs</c:v>
              </c:pt>
              <c:pt idx="2">
                <c:v>Blond Hair</c:v>
              </c:pt>
            </c:strLit>
          </c:cat>
          <c:val>
            <c:numLit>
              <c:formatCode>0.0</c:formatCode>
              <c:ptCount val="3"/>
              <c:pt idx="0">
                <c:v>98.7</c:v>
              </c:pt>
              <c:pt idx="1">
                <c:v>98.4</c:v>
              </c:pt>
              <c:pt idx="2">
                <c:v>99.3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EC5-B14A-9114-3A645FC5C25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DCE2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7223B"/>
                </a:solidFill>
              </a:defRPr>
            </a:pPr>
            <a:endParaRPr lang="zh-SG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97"/>
        </c:scaling>
        <c:delete val="0"/>
        <c:axPos val="l"/>
        <c:majorGridlines>
          <c:spPr>
            <a:ln w="9525">
              <a:solidFill>
                <a:srgbClr val="E4E8ED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52606D"/>
                </a:solidFill>
              </a:defRPr>
            </a:pPr>
            <a:endParaRPr lang="zh-SG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52606D"/>
              </a:solidFill>
            </a:defRPr>
          </a:pPr>
          <a:endParaRPr lang="zh-SG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6FD92-6A8A-4A04-8150-2E2DCA2EF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5920" y="5387342"/>
            <a:ext cx="18653760" cy="11460480"/>
          </a:xfrm>
        </p:spPr>
        <p:txBody>
          <a:bodyPr anchor="b"/>
          <a:lstStyle>
            <a:lvl1pPr algn="ctr">
              <a:buNone/>
              <a:defRPr sz="144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BAA848-E21B-48C3-86E9-A33F051A4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17289782"/>
            <a:ext cx="16459200" cy="7947658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0A3E3-F8F5-4B88-B2F9-9658A23DC4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11F4129-D723-AE42-8870-A3D58B405FED}" type="datetimeFigureOut">
              <a:t>15/07/26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1DC2B-3F20-4DEC-BE66-FC7EE76260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07644-1434-495D-966A-D9A3D01FE2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25DFEBD-7806-FF40-BF59-9BDF958CB37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99798-F926-410B-A9D8-F4477B6E5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5A5-3AD2-4D15-83CF-657427D5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EF040-7720-4EEB-AF4B-E88CD1AD6D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11F4129-D723-AE42-8870-A3D58B405FED}" type="datetimeFigureOut">
              <a:t>15/07/26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BCF2D-138C-46B9-AE61-BBD31CE5BD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1E711-1F5A-4FBF-A47E-3E68F8E6F4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25DFEBD-7806-FF40-BF59-9BDF958CB37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56F45-8CB2-4A3D-B84A-64722ACF5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331" y="8206749"/>
            <a:ext cx="18928080" cy="13693138"/>
          </a:xfrm>
        </p:spPr>
        <p:txBody>
          <a:bodyPr anchor="b"/>
          <a:lstStyle>
            <a:lvl1pPr>
              <a:buNone/>
              <a:defRPr sz="144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9ADB1-4F5A-46B7-80F5-326ABD24F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7331" y="22029429"/>
            <a:ext cx="18928080" cy="7200898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BE1CB-2568-48BD-903F-EFF1DACA4B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11F4129-D723-AE42-8870-A3D58B405FED}" type="datetimeFigureOut">
              <a:t>15/07/26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FE138-CEA0-4A61-B181-680F6CD6736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17BD9-E80C-478F-A01A-8CC687E753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25DFEBD-7806-FF40-BF59-9BDF958CB37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3EED-E2E2-4617-BDA1-9D93C3C4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F9FDE-CA47-4AC9-86FC-B046CB4AE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760" y="8763000"/>
            <a:ext cx="9326880" cy="20886422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AB0ED-81F6-42C9-9028-4FED4624BC8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1109960" y="8763000"/>
            <a:ext cx="9326880" cy="20886422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8D2CF-F636-457E-85A3-9C592D2B13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11F4129-D723-AE42-8870-A3D58B405FED}" type="datetimeFigureOut">
              <a:t>15/07/26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13F49-505B-46F5-8FA8-35F9136848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3179B-87AD-4244-A698-65BC343F81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25DFEBD-7806-FF40-BF59-9BDF958CB37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2A476-3B74-4423-9D4E-8064154E6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618" y="1752607"/>
            <a:ext cx="18928080" cy="6362702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74BC8-7554-4A4F-8D56-F5436E15F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1621" y="8069582"/>
            <a:ext cx="9284016" cy="3954778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274AC-F673-4CCD-A632-32FEB1070C7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511621" y="12024360"/>
            <a:ext cx="9284016" cy="17686022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D44DCB-9BAA-44B4-AF96-F410B9C3351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1109961" y="8069582"/>
            <a:ext cx="9329738" cy="3954778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54CE86-F8E1-4403-A0ED-0623894034D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1109961" y="12024360"/>
            <a:ext cx="9329738" cy="17686022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3E371-4179-42E7-9409-4C8FD72D77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11F4129-D723-AE42-8870-A3D58B405FED}" type="datetimeFigureOut">
              <a:t>15/07/26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1490FE-BDFA-4486-BFBD-A030334C2B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C21F3C-B339-441F-A319-2240B4D8F7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25DFEBD-7806-FF40-BF59-9BDF958CB37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EC244-F9E5-41FD-835C-57ADAFBF4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383493-558F-4B25-8A7D-8C9B7E72E6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11F4129-D723-AE42-8870-A3D58B405FED}" type="datetimeFigureOut">
              <a:t>15/07/26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E4BC8-44B6-4086-9CAA-A1E73D0F5B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DE317-1B9A-4CA1-8EFF-EF4DAE0A2D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25DFEBD-7806-FF40-BF59-9BDF958CB37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08B1E-0FEE-42D3-BA4D-DC3717CBE09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11F4129-D723-AE42-8870-A3D58B405FED}" type="datetimeFigureOut">
              <a:t>15/07/26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3EA26F-4C9E-4191-8A36-47C8D11A77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46695-BAFB-4E27-9D57-DCCBC45D65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25DFEBD-7806-FF40-BF59-9BDF958CB37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2CC6E-CEF7-461D-9142-65DFBE01C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buNone/>
              <a:defRPr sz="768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A61EA-103C-48F1-9D47-E3EA4427F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9738" y="4739647"/>
            <a:ext cx="11109960" cy="23393400"/>
          </a:xfrm>
        </p:spPr>
        <p:txBody>
          <a:bodyPr/>
          <a:lstStyle>
            <a:lvl1pPr>
              <a:buNone/>
              <a:defRPr sz="7680"/>
            </a:lvl1pPr>
            <a:lvl2pPr>
              <a:buNone/>
              <a:defRPr sz="6720"/>
            </a:lvl2pPr>
            <a:lvl3pPr>
              <a:buNone/>
              <a:defRPr sz="5760"/>
            </a:lvl3pPr>
            <a:lvl4pPr>
              <a:buNone/>
              <a:defRPr sz="4800"/>
            </a:lvl4pPr>
            <a:lvl5pPr>
              <a:buNone/>
              <a:defRPr sz="4800"/>
            </a:lvl5pPr>
            <a:lvl6pPr>
              <a:buNone/>
              <a:defRPr sz="4800"/>
            </a:lvl6pPr>
            <a:lvl7pPr>
              <a:buNone/>
              <a:defRPr sz="4800"/>
            </a:lvl7pPr>
            <a:lvl8pPr>
              <a:buNone/>
              <a:defRPr sz="4800"/>
            </a:lvl8pPr>
            <a:lvl9pPr>
              <a:buNone/>
              <a:defRPr sz="4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28E21-926E-4E22-9A8D-15CBE347FF1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A3CF1-DC5A-4D0D-81E3-A6185C1892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11F4129-D723-AE42-8870-A3D58B405FED}" type="datetimeFigureOut">
              <a:t>15/07/26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F81E9-02F4-43FB-A047-57354B37F0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EFBB8-9A2C-4846-9D94-7FA84A8DE0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25DFEBD-7806-FF40-BF59-9BDF958CB37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0870-BADD-46AE-8B87-F130E3B08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buNone/>
              <a:defRPr sz="768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C1D9FF-8D5E-45DE-BE7D-62B8F43DC1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29738" y="4739647"/>
            <a:ext cx="11109960" cy="233934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11C6D-21D8-48ED-89A6-D6908248EA8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55C8C-FD55-41F4-B3E6-BDEBCBD91F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11F4129-D723-AE42-8870-A3D58B405FED}" type="datetimeFigureOut">
              <a:t>15/07/26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8D2AE-3877-4FBC-8852-3AA8CF291B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33025-C035-49DD-B105-2739834368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25DFEBD-7806-FF40-BF59-9BDF958CB37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7846E-2F2F-4FD6-BC85-F26D5C416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8B925-4EBB-4F6F-B0FF-B6C0264AE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8F308-B9A0-470C-A182-1866E00A80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11F4129-D723-AE42-8870-A3D58B405FED}" type="datetimeFigureOut">
              <a:t>15/07/26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149BE-A636-43C4-ABEF-33B35E0A33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A2E67-3AD4-4ED9-B9DF-31FF995592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25DFEBD-7806-FF40-BF59-9BDF958CB37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C7BD4C-76E8-4207-AB09-5B9BFD01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4821" y="1752600"/>
            <a:ext cx="4732020" cy="27896822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8678E-0A3A-4BFB-B610-1067A647D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8761" y="1752600"/>
            <a:ext cx="13921740" cy="27896822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4407B-067C-4CFA-8F16-6E7BC2CB35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11F4129-D723-AE42-8870-A3D58B405FED}" type="datetimeFigureOut">
              <a:t>15/07/26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3501D-2C53-41AC-8D8D-49DE9DC01F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F0C52-7FA8-49C9-83C1-D680025E4E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25DFEBD-7806-FF40-BF59-9BDF958CB37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D140E-72F9-4EA2-989B-9CDC8D3E1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1752607"/>
            <a:ext cx="18928080" cy="636270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12AFE-B209-47FB-AD74-4463DC2D7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8760" y="8763000"/>
            <a:ext cx="18928080" cy="2088642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1EE08-0114-4906-BB3E-59F7E88B68F2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508760" y="30510487"/>
            <a:ext cx="4937760" cy="17526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F4129-D723-AE42-8870-A3D58B405FED}" type="datetimeFigureOut">
              <a:t>15/07/26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C2234-ED9E-4EFB-AEBD-9DB90995BD0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7269480" y="30510487"/>
            <a:ext cx="7406640" cy="17526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C71B7-785C-4429-90B6-B5AE6750BC8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5499080" y="30510487"/>
            <a:ext cx="4937760" cy="17526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5DFEBD-7806-FF40-BF59-9BDF958CB37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buNone/>
        <a:defRPr sz="1056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548640" indent="-548640" algn="l">
        <a:lnSpc>
          <a:spcPct val="90000"/>
        </a:lnSpc>
        <a:spcBef>
          <a:spcPts val="2400"/>
        </a:spcBef>
        <a:buChar char="•"/>
        <a:defRPr sz="6720">
          <a:solidFill>
            <a:schemeClr val="tx1"/>
          </a:solidFill>
          <a:latin typeface="+mn-lt"/>
          <a:ea typeface="+mn-lt"/>
          <a:cs typeface="+mn-lt"/>
        </a:defRPr>
      </a:lvl1pPr>
      <a:lvl2pPr marL="1645920" indent="-548640" algn="l">
        <a:lnSpc>
          <a:spcPct val="90000"/>
        </a:lnSpc>
        <a:spcBef>
          <a:spcPts val="1200"/>
        </a:spcBef>
        <a:buChar char="•"/>
        <a:defRPr sz="5760">
          <a:solidFill>
            <a:schemeClr val="tx1"/>
          </a:solidFill>
          <a:latin typeface="+mn-lt"/>
          <a:ea typeface="+mn-lt"/>
          <a:cs typeface="+mn-lt"/>
        </a:defRPr>
      </a:lvl2pPr>
      <a:lvl3pPr marL="2743200" indent="-548640" algn="l">
        <a:lnSpc>
          <a:spcPct val="90000"/>
        </a:lnSpc>
        <a:spcBef>
          <a:spcPts val="1200"/>
        </a:spcBef>
        <a:buChar char="•"/>
        <a:defRPr sz="4800">
          <a:solidFill>
            <a:schemeClr val="tx1"/>
          </a:solidFill>
          <a:latin typeface="+mn-lt"/>
          <a:ea typeface="+mn-lt"/>
          <a:cs typeface="+mn-lt"/>
        </a:defRPr>
      </a:lvl3pPr>
      <a:lvl4pPr marL="3840480" indent="-548640" algn="l">
        <a:lnSpc>
          <a:spcPct val="90000"/>
        </a:lnSpc>
        <a:spcBef>
          <a:spcPts val="1200"/>
        </a:spcBef>
        <a:buChar char="•"/>
        <a:defRPr sz="4320">
          <a:solidFill>
            <a:schemeClr val="tx1"/>
          </a:solidFill>
          <a:latin typeface="+mn-lt"/>
          <a:ea typeface="+mn-lt"/>
          <a:cs typeface="+mn-lt"/>
        </a:defRPr>
      </a:lvl4pPr>
      <a:lvl5pPr marL="4937760" indent="-548640" algn="l">
        <a:lnSpc>
          <a:spcPct val="90000"/>
        </a:lnSpc>
        <a:spcBef>
          <a:spcPts val="1200"/>
        </a:spcBef>
        <a:buChar char="•"/>
        <a:defRPr sz="4320">
          <a:solidFill>
            <a:schemeClr val="tx1"/>
          </a:solidFill>
          <a:latin typeface="+mn-lt"/>
          <a:ea typeface="+mn-lt"/>
          <a:cs typeface="+mn-lt"/>
        </a:defRPr>
      </a:lvl5pPr>
      <a:lvl6pPr marL="6035040" indent="-548640" algn="l">
        <a:lnSpc>
          <a:spcPct val="90000"/>
        </a:lnSpc>
        <a:spcBef>
          <a:spcPts val="1200"/>
        </a:spcBef>
        <a:buChar char="•"/>
        <a:defRPr sz="4320">
          <a:solidFill>
            <a:schemeClr val="tx1"/>
          </a:solidFill>
          <a:latin typeface="+mn-lt"/>
          <a:ea typeface="+mn-lt"/>
          <a:cs typeface="+mn-lt"/>
        </a:defRPr>
      </a:lvl6pPr>
      <a:lvl7pPr marL="7132320" indent="-548640" algn="l">
        <a:lnSpc>
          <a:spcPct val="90000"/>
        </a:lnSpc>
        <a:spcBef>
          <a:spcPts val="1200"/>
        </a:spcBef>
        <a:buChar char="•"/>
        <a:defRPr sz="4320">
          <a:solidFill>
            <a:schemeClr val="tx1"/>
          </a:solidFill>
          <a:latin typeface="+mn-lt"/>
          <a:ea typeface="+mn-lt"/>
          <a:cs typeface="+mn-lt"/>
        </a:defRPr>
      </a:lvl7pPr>
      <a:lvl8pPr marL="8229600" indent="-548640" algn="l">
        <a:lnSpc>
          <a:spcPct val="90000"/>
        </a:lnSpc>
        <a:spcBef>
          <a:spcPts val="1200"/>
        </a:spcBef>
        <a:buChar char="•"/>
        <a:defRPr sz="4320">
          <a:solidFill>
            <a:schemeClr val="tx1"/>
          </a:solidFill>
          <a:latin typeface="+mn-lt"/>
          <a:ea typeface="+mn-lt"/>
          <a:cs typeface="+mn-lt"/>
        </a:defRPr>
      </a:lvl8pPr>
      <a:lvl9pPr marL="9326880" indent="-548640" algn="l">
        <a:lnSpc>
          <a:spcPct val="90000"/>
        </a:lnSpc>
        <a:spcBef>
          <a:spcPts val="1200"/>
        </a:spcBef>
        <a:buChar char="•"/>
        <a:defRPr sz="432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4320">
          <a:solidFill>
            <a:schemeClr val="tx1"/>
          </a:solidFill>
          <a:latin typeface="+mn-lt"/>
          <a:ea typeface="+mn-lt"/>
          <a:cs typeface="+mn-lt"/>
        </a:defRPr>
      </a:lvl1pPr>
      <a:lvl2pPr marL="1097280" algn="l">
        <a:buNone/>
        <a:defRPr sz="4320">
          <a:solidFill>
            <a:schemeClr val="tx1"/>
          </a:solidFill>
          <a:latin typeface="+mn-lt"/>
          <a:ea typeface="+mn-lt"/>
          <a:cs typeface="+mn-lt"/>
        </a:defRPr>
      </a:lvl2pPr>
      <a:lvl3pPr marL="2194560" algn="l">
        <a:buNone/>
        <a:defRPr sz="4320">
          <a:solidFill>
            <a:schemeClr val="tx1"/>
          </a:solidFill>
          <a:latin typeface="+mn-lt"/>
          <a:ea typeface="+mn-lt"/>
          <a:cs typeface="+mn-lt"/>
        </a:defRPr>
      </a:lvl3pPr>
      <a:lvl4pPr marL="3291840" algn="l">
        <a:buNone/>
        <a:defRPr sz="4320">
          <a:solidFill>
            <a:schemeClr val="tx1"/>
          </a:solidFill>
          <a:latin typeface="+mn-lt"/>
          <a:ea typeface="+mn-lt"/>
          <a:cs typeface="+mn-lt"/>
        </a:defRPr>
      </a:lvl4pPr>
      <a:lvl5pPr marL="4389120" algn="l">
        <a:buNone/>
        <a:defRPr sz="4320">
          <a:solidFill>
            <a:schemeClr val="tx1"/>
          </a:solidFill>
          <a:latin typeface="+mn-lt"/>
          <a:ea typeface="+mn-lt"/>
          <a:cs typeface="+mn-lt"/>
        </a:defRPr>
      </a:lvl5pPr>
      <a:lvl6pPr marL="5486400" algn="l">
        <a:buNone/>
        <a:defRPr sz="4320">
          <a:solidFill>
            <a:schemeClr val="tx1"/>
          </a:solidFill>
          <a:latin typeface="+mn-lt"/>
          <a:ea typeface="+mn-lt"/>
          <a:cs typeface="+mn-lt"/>
        </a:defRPr>
      </a:lvl6pPr>
      <a:lvl7pPr marL="6583680" algn="l">
        <a:buNone/>
        <a:defRPr sz="4320">
          <a:solidFill>
            <a:schemeClr val="tx1"/>
          </a:solidFill>
          <a:latin typeface="+mn-lt"/>
          <a:ea typeface="+mn-lt"/>
          <a:cs typeface="+mn-lt"/>
        </a:defRPr>
      </a:lvl7pPr>
      <a:lvl8pPr marL="7680960" algn="l">
        <a:buNone/>
        <a:defRPr sz="4320">
          <a:solidFill>
            <a:schemeClr val="tx1"/>
          </a:solidFill>
          <a:latin typeface="+mn-lt"/>
          <a:ea typeface="+mn-lt"/>
          <a:cs typeface="+mn-lt"/>
        </a:defRPr>
      </a:lvl8pPr>
      <a:lvl9pPr marL="8778240" algn="l">
        <a:buNone/>
        <a:defRPr sz="432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chart" Target="../charts/chart1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E3045-EE25-1A79-FB96-90D6B637C9CD}"/>
              </a:ext>
            </a:extLst>
          </p:cNvPr>
          <p:cNvSpPr>
            <a:spLocks noGrp="1"/>
          </p:cNvSpPr>
          <p:nvPr/>
        </p:nvSpPr>
        <p:spPr>
          <a:xfrm>
            <a:off x="457200" y="406807"/>
            <a:ext cx="18907125" cy="1754326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>
              <a:defRPr sz="5700" b="1">
                <a:solidFill>
                  <a:srgbClr val="C41230"/>
                </a:solidFill>
                <a:latin typeface="Optima"/>
                <a:ea typeface="Optima"/>
                <a:cs typeface="Optima"/>
              </a:defRPr>
            </a:pPr>
            <a:r>
              <a:rPr lang="en-SG" altLang="zh-SG" sz="5700" dirty="0"/>
              <a:t>CRH-CFG: Constraint-aware Receding-Horizon Guidance</a:t>
            </a:r>
          </a:p>
          <a:p>
            <a:pPr>
              <a:defRPr sz="5700" b="1">
                <a:solidFill>
                  <a:srgbClr val="C41230"/>
                </a:solidFill>
                <a:latin typeface="Optima"/>
                <a:ea typeface="Optima"/>
                <a:cs typeface="Optima"/>
              </a:defRPr>
            </a:pPr>
            <a:r>
              <a:rPr lang="zh-CN" altLang="en-US" sz="5700"/>
              <a:t>                  </a:t>
            </a:r>
            <a:r>
              <a:rPr lang="en-SG" altLang="zh-SG" sz="5700" dirty="0"/>
              <a:t>for Attribute-Conditioned Flow Matching</a:t>
            </a:r>
            <a:endParaRPr sz="5700" b="1" dirty="0">
              <a:solidFill>
                <a:srgbClr val="C41230"/>
              </a:solidFill>
              <a:latin typeface="Optima"/>
              <a:ea typeface="Optima"/>
              <a:cs typeface="Optima"/>
            </a:endParaRPr>
          </a:p>
        </p:txBody>
      </p:sp>
      <p:pic>
        <p:nvPicPr>
          <p:cNvPr id="108" name="Picture 2"/>
          <p:cNvPicPr>
            <a:picLocks noChangeAspect="1"/>
          </p:cNvPicPr>
          <p:nvPr/>
        </p:nvPicPr>
        <p:blipFill rotWithShape="1">
          <a:blip r:embed="rId3"/>
          <a:srcRect l="7788" t="14794" r="5471" b="19886"/>
          <a:stretch/>
        </p:blipFill>
        <p:spPr>
          <a:xfrm>
            <a:off x="19868702" y="0"/>
            <a:ext cx="2076898" cy="156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BB37E2-0B5C-8AF3-C178-48464CF38E1A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80975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55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17223B"/>
                </a:solidFill>
                <a:latin typeface="Arial"/>
                <a:ea typeface="Arial"/>
                <a:cs typeface="Arial"/>
              </a:rPr>
              <a:t>Mu Chen  |  CMU 10-799 Diffusion &amp; Flow Matching  |  Controllability Track</a:t>
            </a:r>
          </a:p>
        </p:txBody>
      </p:sp>
      <p:sp>
        <p:nvSpPr>
          <p:cNvPr id="11" name="hero-band">
            <a:extLst>
              <a:ext uri="{FF2B5EF4-FFF2-40B4-BE49-F238E27FC236}">
                <a16:creationId xmlns:a16="http://schemas.microsoft.com/office/drawing/2014/main" id="{9EC2B0CC-EBE0-48D2-B10A-0AF5556EB54C}"/>
              </a:ext>
            </a:extLst>
          </p:cNvPr>
          <p:cNvSpPr>
            <a:spLocks noGrp="1"/>
          </p:cNvSpPr>
          <p:nvPr/>
        </p:nvSpPr>
        <p:spPr>
          <a:xfrm>
            <a:off x="457200" y="3524250"/>
            <a:ext cx="21031200" cy="2381250"/>
          </a:xfrm>
          <a:prstGeom prst="roundRect">
            <a:avLst>
              <a:gd name="adj" fmla="val 4800"/>
            </a:avLst>
          </a:prstGeom>
          <a:solidFill>
            <a:srgbClr val="17223B"/>
          </a:solidFill>
          <a:ln w="19050">
            <a:solidFill>
              <a:srgbClr val="17223B"/>
            </a:solidFill>
            <a:prstDash val="solid"/>
          </a:ln>
        </p:spPr>
      </p:sp>
      <p:sp>
        <p:nvSpPr>
          <p:cNvPr id="12" name="hero-thesis">
            <a:extLst>
              <a:ext uri="{FF2B5EF4-FFF2-40B4-BE49-F238E27FC236}">
                <a16:creationId xmlns:a16="http://schemas.microsoft.com/office/drawing/2014/main" id="{3B4D3386-32BE-4B20-B004-8751C878A15B}"/>
              </a:ext>
            </a:extLst>
          </p:cNvPr>
          <p:cNvSpPr>
            <a:spLocks noGrp="1"/>
          </p:cNvSpPr>
          <p:nvPr/>
        </p:nvSpPr>
        <p:spPr>
          <a:xfrm>
            <a:off x="838200" y="3886200"/>
            <a:ext cx="10668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3375" b="1" i="0">
                <a:solidFill>
                  <a:srgbClr val="FFFFFF"/>
                </a:solidFill>
                <a:latin typeface="Optima"/>
                <a:ea typeface="Optima"/>
                <a:cs typeface="Optima"/>
              </a:defRPr>
            </a:pPr>
            <a:r>
              <a:rPr sz="3375" b="1" i="0">
                <a:solidFill>
                  <a:srgbClr val="FFFFFF"/>
                </a:solidFill>
                <a:latin typeface="Optima"/>
                <a:ea typeface="Optima"/>
                <a:cs typeface="Optima"/>
              </a:rPr>
              <a:t>One affine guidance axis + one analytic endpoint map turns fixed CFG into constrained feedback.</a:t>
            </a:r>
          </a:p>
        </p:txBody>
      </p:sp>
      <p:sp>
        <p:nvSpPr>
          <p:cNvPr id="13" name="hero-success-value">
            <a:extLst>
              <a:ext uri="{FF2B5EF4-FFF2-40B4-BE49-F238E27FC236}">
                <a16:creationId xmlns:a16="http://schemas.microsoft.com/office/drawing/2014/main" id="{8F05A686-4FF0-4BDF-B6FB-0B7550379073}"/>
              </a:ext>
            </a:extLst>
          </p:cNvPr>
          <p:cNvSpPr>
            <a:spLocks noGrp="1"/>
          </p:cNvSpPr>
          <p:nvPr/>
        </p:nvSpPr>
        <p:spPr>
          <a:xfrm>
            <a:off x="11906250" y="3848100"/>
            <a:ext cx="2857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4350" b="1" i="0">
                <a:solidFill>
                  <a:srgbClr val="7FE0C5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7FE0C5"/>
                </a:solidFill>
                <a:latin typeface="Arial"/>
                <a:ea typeface="Arial"/>
                <a:cs typeface="Arial"/>
              </a:rPr>
              <a:t>1-D</a:t>
            </a:r>
          </a:p>
        </p:txBody>
      </p:sp>
      <p:sp>
        <p:nvSpPr>
          <p:cNvPr id="14" name="hero-success-label">
            <a:extLst>
              <a:ext uri="{FF2B5EF4-FFF2-40B4-BE49-F238E27FC236}">
                <a16:creationId xmlns:a16="http://schemas.microsoft.com/office/drawing/2014/main" id="{05A42A97-9CBB-4A41-82DC-330D7DDFA2DA}"/>
              </a:ext>
            </a:extLst>
          </p:cNvPr>
          <p:cNvSpPr>
            <a:spLocks noGrp="1"/>
          </p:cNvSpPr>
          <p:nvPr/>
        </p:nvSpPr>
        <p:spPr>
          <a:xfrm>
            <a:off x="11963400" y="4572000"/>
            <a:ext cx="2743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00" b="0" i="0">
                <a:solidFill>
                  <a:srgbClr val="CAD4E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CAD4E1"/>
                </a:solidFill>
                <a:latin typeface="Arial"/>
                <a:ea typeface="Arial"/>
                <a:cs typeface="Arial"/>
              </a:rPr>
              <a:t>CFG control authority</a:t>
            </a:r>
          </a:p>
        </p:txBody>
      </p:sp>
      <p:sp>
        <p:nvSpPr>
          <p:cNvPr id="15" name="hero-cost-value">
            <a:extLst>
              <a:ext uri="{FF2B5EF4-FFF2-40B4-BE49-F238E27FC236}">
                <a16:creationId xmlns:a16="http://schemas.microsoft.com/office/drawing/2014/main" id="{25D03893-BF19-4D96-8BDE-411049C2A25C}"/>
              </a:ext>
            </a:extLst>
          </p:cNvPr>
          <p:cNvSpPr>
            <a:spLocks noGrp="1"/>
          </p:cNvSpPr>
          <p:nvPr/>
        </p:nvSpPr>
        <p:spPr>
          <a:xfrm>
            <a:off x="14811375" y="3848100"/>
            <a:ext cx="2857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4350" b="1" i="0">
                <a:solidFill>
                  <a:srgbClr val="8ED7F0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8ED7F0"/>
                </a:solidFill>
                <a:latin typeface="Arial"/>
                <a:ea typeface="Arial"/>
                <a:cs typeface="Arial"/>
              </a:rPr>
              <a:t>x0</a:t>
            </a:r>
          </a:p>
        </p:txBody>
      </p:sp>
      <p:sp>
        <p:nvSpPr>
          <p:cNvPr id="16" name="hero-cost-label">
            <a:extLst>
              <a:ext uri="{FF2B5EF4-FFF2-40B4-BE49-F238E27FC236}">
                <a16:creationId xmlns:a16="http://schemas.microsoft.com/office/drawing/2014/main" id="{59ED6D33-E1B1-4068-BA93-27CCFA8C4F7F}"/>
              </a:ext>
            </a:extLst>
          </p:cNvPr>
          <p:cNvSpPr>
            <a:spLocks noGrp="1"/>
          </p:cNvSpPr>
          <p:nvPr/>
        </p:nvSpPr>
        <p:spPr>
          <a:xfrm>
            <a:off x="14868525" y="4572000"/>
            <a:ext cx="2743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00" b="0" i="0">
                <a:solidFill>
                  <a:srgbClr val="CAD4E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CAD4E1"/>
                </a:solidFill>
                <a:latin typeface="Arial"/>
                <a:ea typeface="Arial"/>
                <a:cs typeface="Arial"/>
              </a:rPr>
              <a:t>analytic endpoint forecast</a:t>
            </a:r>
          </a:p>
        </p:txBody>
      </p:sp>
      <p:sp>
        <p:nvSpPr>
          <p:cNvPr id="17" name="hero-nfe-value">
            <a:extLst>
              <a:ext uri="{FF2B5EF4-FFF2-40B4-BE49-F238E27FC236}">
                <a16:creationId xmlns:a16="http://schemas.microsoft.com/office/drawing/2014/main" id="{90251B50-1192-4BC9-A0DE-1C27AAF97530}"/>
              </a:ext>
            </a:extLst>
          </p:cNvPr>
          <p:cNvSpPr>
            <a:spLocks noGrp="1"/>
          </p:cNvSpPr>
          <p:nvPr/>
        </p:nvSpPr>
        <p:spPr>
          <a:xfrm>
            <a:off x="17716500" y="3848100"/>
            <a:ext cx="3143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4350" b="1" i="0">
                <a:solidFill>
                  <a:srgbClr val="FFD28A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D28A"/>
                </a:solidFill>
                <a:latin typeface="Arial"/>
                <a:ea typeface="Arial"/>
                <a:cs typeface="Arial"/>
              </a:rPr>
              <a:t>+0</a:t>
            </a:r>
          </a:p>
        </p:txBody>
      </p:sp>
      <p:sp>
        <p:nvSpPr>
          <p:cNvPr id="18" name="hero-nfe-label">
            <a:extLst>
              <a:ext uri="{FF2B5EF4-FFF2-40B4-BE49-F238E27FC236}">
                <a16:creationId xmlns:a16="http://schemas.microsoft.com/office/drawing/2014/main" id="{5FBB75F1-B174-422B-86C8-3A69450D3F3E}"/>
              </a:ext>
            </a:extLst>
          </p:cNvPr>
          <p:cNvSpPr>
            <a:spLocks noGrp="1"/>
          </p:cNvSpPr>
          <p:nvPr/>
        </p:nvSpPr>
        <p:spPr>
          <a:xfrm>
            <a:off x="17773650" y="4572000"/>
            <a:ext cx="30289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00" b="0" i="0">
                <a:solidFill>
                  <a:srgbClr val="CAD4E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CAD4E1"/>
                </a:solidFill>
                <a:latin typeface="Arial"/>
                <a:ea typeface="Arial"/>
                <a:cs typeface="Arial"/>
              </a:rPr>
              <a:t>extra U-Net calls for selection</a:t>
            </a:r>
          </a:p>
        </p:txBody>
      </p:sp>
      <p:sp>
        <p:nvSpPr>
          <p:cNvPr id="19" name="problem-panel">
            <a:extLst>
              <a:ext uri="{FF2B5EF4-FFF2-40B4-BE49-F238E27FC236}">
                <a16:creationId xmlns:a16="http://schemas.microsoft.com/office/drawing/2014/main" id="{5911706F-897E-47ED-AEF7-FB133B45E091}"/>
              </a:ext>
            </a:extLst>
          </p:cNvPr>
          <p:cNvSpPr>
            <a:spLocks noGrp="1"/>
          </p:cNvSpPr>
          <p:nvPr/>
        </p:nvSpPr>
        <p:spPr>
          <a:xfrm>
            <a:off x="457200" y="6191250"/>
            <a:ext cx="6667500" cy="7000875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9050">
            <a:solidFill>
              <a:srgbClr val="D7DCE2"/>
            </a:solidFill>
            <a:prstDash val="solid"/>
          </a:ln>
        </p:spPr>
      </p:sp>
      <p:sp>
        <p:nvSpPr>
          <p:cNvPr id="20" name="problem-accent">
            <a:extLst>
              <a:ext uri="{FF2B5EF4-FFF2-40B4-BE49-F238E27FC236}">
                <a16:creationId xmlns:a16="http://schemas.microsoft.com/office/drawing/2014/main" id="{1F087BAF-8E6D-4CA6-AFEA-69C5E506CA1C}"/>
              </a:ext>
            </a:extLst>
          </p:cNvPr>
          <p:cNvSpPr>
            <a:spLocks noGrp="1"/>
          </p:cNvSpPr>
          <p:nvPr/>
        </p:nvSpPr>
        <p:spPr>
          <a:xfrm>
            <a:off x="457200" y="6191250"/>
            <a:ext cx="114300" cy="7000875"/>
          </a:xfrm>
          <a:prstGeom prst="rect">
            <a:avLst/>
          </a:prstGeom>
          <a:solidFill>
            <a:srgbClr val="C41230"/>
          </a:solidFill>
          <a:ln w="19050">
            <a:solidFill>
              <a:srgbClr val="C41230"/>
            </a:solidFill>
            <a:prstDash val="solid"/>
          </a:ln>
        </p:spPr>
      </p:sp>
      <p:sp>
        <p:nvSpPr>
          <p:cNvPr id="21" name="problem-title">
            <a:extLst>
              <a:ext uri="{FF2B5EF4-FFF2-40B4-BE49-F238E27FC236}">
                <a16:creationId xmlns:a16="http://schemas.microsoft.com/office/drawing/2014/main" id="{612A8046-5611-4173-B57B-EFCE54A43889}"/>
              </a:ext>
            </a:extLst>
          </p:cNvPr>
          <p:cNvSpPr>
            <a:spLocks noGrp="1"/>
          </p:cNvSpPr>
          <p:nvPr/>
        </p:nvSpPr>
        <p:spPr>
          <a:xfrm>
            <a:off x="781050" y="6419850"/>
            <a:ext cx="609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C41230"/>
                </a:solidFill>
                <a:latin typeface="Optima"/>
                <a:ea typeface="Optima"/>
                <a:cs typeface="Optima"/>
              </a:defRPr>
            </a:pPr>
            <a:r>
              <a:rPr sz="2850" b="1" i="0">
                <a:solidFill>
                  <a:srgbClr val="C41230"/>
                </a:solidFill>
                <a:latin typeface="Optima"/>
                <a:ea typeface="Optima"/>
                <a:cs typeface="Optima"/>
              </a:rPr>
              <a:t>First principles: derive the controller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roblem-copy">
                <a:extLst>
                  <a:ext uri="{FF2B5EF4-FFF2-40B4-BE49-F238E27FC236}">
                    <a16:creationId xmlns:a16="http://schemas.microsoft.com/office/drawing/2014/main" id="{690E0076-03FD-4BCF-9720-DCC536739A2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81050" y="7067550"/>
                <a:ext cx="6019800" cy="409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t"/>
              <a:lstStyle/>
              <a:p>
                <a:pPr algn="l">
                  <a:defRPr sz="2100" b="0" i="0">
                    <a:solidFill>
                      <a:srgbClr val="17223B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100" b="0" i="0" dirty="0">
                    <a:solidFill>
                      <a:srgbClr val="17223B"/>
                    </a:solidFill>
                    <a:latin typeface="Arial"/>
                    <a:ea typeface="Arial"/>
                    <a:cs typeface="Arial"/>
                  </a:rPr>
                  <a:t>1  Field structure</a:t>
                </a:r>
              </a:p>
              <a:p>
                <a:pPr algn="l">
                  <a:defRPr sz="2100" b="0" i="0">
                    <a:solidFill>
                      <a:srgbClr val="17223B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100" b="0" i="0" dirty="0">
                    <a:solidFill>
                      <a:srgbClr val="17223B"/>
                    </a:solidFill>
                    <a:latin typeface="Arial"/>
                    <a:ea typeface="Arial"/>
                    <a:cs typeface="Arial"/>
                  </a:rPr>
                  <a:t>All scalar CFG actions reuse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SG" sz="2100" b="0" i="1" dirty="0" smtClean="0">
                            <a:solidFill>
                              <a:srgbClr val="17223B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zh-SG" altLang="en-US" sz="2100" b="0" i="1" dirty="0" smtClean="0">
                            <a:solidFill>
                              <a:srgbClr val="17223B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𝑔</m:t>
                        </m:r>
                      </m:e>
                      <m:sub>
                        <m:r>
                          <a:rPr lang="en-US" altLang="zh-SG" sz="2100" b="0" i="1" dirty="0" err="1">
                            <a:solidFill>
                              <a:srgbClr val="17223B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𝑠</m:t>
                        </m:r>
                      </m:sub>
                    </m:sSub>
                    <m:r>
                      <a:rPr lang="en-US" altLang="zh-SG" sz="2100" b="0" i="1" dirty="0">
                        <a:solidFill>
                          <a:srgbClr val="17223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=</m:t>
                    </m:r>
                    <m:sSub>
                      <m:sSubPr>
                        <m:ctrlPr>
                          <a:rPr lang="en-US" altLang="zh-SG" sz="2100" b="0" i="1" dirty="0" err="1">
                            <a:solidFill>
                              <a:srgbClr val="17223B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zh-SG" altLang="en-US" sz="2100" b="0" i="1" dirty="0" err="1">
                            <a:solidFill>
                              <a:srgbClr val="17223B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𝑣</m:t>
                        </m:r>
                      </m:e>
                      <m:sub>
                        <m:r>
                          <a:rPr lang="en-US" altLang="zh-SG" sz="2100" b="0" i="1" dirty="0" err="1">
                            <a:solidFill>
                              <a:srgbClr val="17223B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𝑐</m:t>
                        </m:r>
                      </m:sub>
                    </m:sSub>
                    <m:r>
                      <a:rPr lang="zh-SG" altLang="en-US" sz="2100" b="0" i="1" dirty="0">
                        <a:solidFill>
                          <a:srgbClr val="17223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−</m:t>
                    </m:r>
                    <m:sSub>
                      <m:sSubPr>
                        <m:ctrlPr>
                          <a:rPr lang="en-US" altLang="zh-SG" sz="2100" b="0" i="1" dirty="0" err="1">
                            <a:solidFill>
                              <a:srgbClr val="17223B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zh-SG" altLang="en-US" sz="2100" b="0" i="1" dirty="0" err="1">
                            <a:solidFill>
                              <a:srgbClr val="17223B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𝑣</m:t>
                        </m:r>
                      </m:e>
                      <m:sub>
                        <m:r>
                          <a:rPr lang="en-US" altLang="zh-SG" sz="2100" b="0" i="1" dirty="0" err="1">
                            <a:solidFill>
                              <a:srgbClr val="17223B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𝑢</m:t>
                        </m:r>
                      </m:sub>
                    </m:sSub>
                  </m:oMath>
                </a14:m>
                <a:r>
                  <a:rPr sz="2100" b="0" i="0" dirty="0">
                    <a:solidFill>
                      <a:srgbClr val="17223B"/>
                    </a:solidFill>
                    <a:latin typeface="Arial"/>
                    <a:ea typeface="Arial"/>
                    <a:cs typeface="Arial"/>
                  </a:rPr>
                  <a:t>.</a:t>
                </a:r>
              </a:p>
              <a:p>
                <a:endParaRPr sz="2100" b="0" i="0" dirty="0">
                  <a:solidFill>
                    <a:srgbClr val="17223B"/>
                  </a:solidFill>
                  <a:latin typeface="Arial"/>
                  <a:ea typeface="Arial"/>
                  <a:cs typeface="Arial"/>
                </a:endParaRPr>
              </a:p>
              <a:p>
                <a:pPr algn="l">
                  <a:defRPr sz="2100" b="0" i="0">
                    <a:solidFill>
                      <a:srgbClr val="17223B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100" b="0" i="0" dirty="0">
                    <a:solidFill>
                      <a:srgbClr val="17223B"/>
                    </a:solidFill>
                    <a:latin typeface="Arial"/>
                    <a:ea typeface="Arial"/>
                    <a:cs typeface="Arial"/>
                  </a:rPr>
                  <a:t>2  Endpoint geometry</a:t>
                </a:r>
              </a:p>
              <a:p>
                <a:pPr algn="l">
                  <a:defRPr sz="2100" b="0" i="0">
                    <a:solidFill>
                      <a:srgbClr val="17223B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100" b="0" i="0" dirty="0">
                    <a:solidFill>
                      <a:srgbClr val="17223B"/>
                    </a:solidFill>
                    <a:latin typeface="Arial"/>
                    <a:ea typeface="Arial"/>
                    <a:cs typeface="Arial"/>
                  </a:rPr>
                  <a:t>A straight path maps each action to a clean-endpoint forecast.</a:t>
                </a:r>
              </a:p>
              <a:p>
                <a:endParaRPr sz="2100" b="0" i="0" dirty="0">
                  <a:solidFill>
                    <a:srgbClr val="17223B"/>
                  </a:solidFill>
                  <a:latin typeface="Arial"/>
                  <a:ea typeface="Arial"/>
                  <a:cs typeface="Arial"/>
                </a:endParaRPr>
              </a:p>
              <a:p>
                <a:pPr algn="l">
                  <a:defRPr sz="2100" b="0" i="0">
                    <a:solidFill>
                      <a:srgbClr val="17223B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100" b="0" i="0" dirty="0">
                    <a:solidFill>
                      <a:srgbClr val="17223B"/>
                    </a:solidFill>
                    <a:latin typeface="Arial"/>
                    <a:ea typeface="Arial"/>
                    <a:cs typeface="Arial"/>
                  </a:rPr>
                  <a:t>3  Control principle</a:t>
                </a:r>
              </a:p>
              <a:p>
                <a:pPr algn="l">
                  <a:defRPr sz="2100" b="0" i="0">
                    <a:solidFill>
                      <a:srgbClr val="17223B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100" b="0" i="0" dirty="0">
                    <a:solidFill>
                      <a:srgbClr val="17223B"/>
                    </a:solidFill>
                    <a:latin typeface="Arial"/>
                    <a:ea typeface="Arial"/>
                    <a:cs typeface="Arial"/>
                  </a:rPr>
                  <a:t>Satisfy target + protected-attribute proxies with the least intervention, then re-observe.</a:t>
                </a:r>
              </a:p>
            </p:txBody>
          </p:sp>
        </mc:Choice>
        <mc:Fallback xmlns="">
          <p:sp>
            <p:nvSpPr>
              <p:cNvPr id="22" name="problem-copy">
                <a:extLst>
                  <a:ext uri="{FF2B5EF4-FFF2-40B4-BE49-F238E27FC236}">
                    <a16:creationId xmlns:a16="http://schemas.microsoft.com/office/drawing/2014/main" id="{690E0076-03FD-4BCF-9720-DCC536739A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50" y="7067550"/>
                <a:ext cx="6019800" cy="4095750"/>
              </a:xfrm>
              <a:prstGeom prst="rect">
                <a:avLst/>
              </a:prstGeom>
              <a:blipFill>
                <a:blip r:embed="rId4"/>
                <a:stretch>
                  <a:fillRect l="-2737" t="-1858" r="-273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problem-question">
            <a:extLst>
              <a:ext uri="{FF2B5EF4-FFF2-40B4-BE49-F238E27FC236}">
                <a16:creationId xmlns:a16="http://schemas.microsoft.com/office/drawing/2014/main" id="{9BA828DC-B90C-4419-9B0B-8F8B1A37AD72}"/>
              </a:ext>
            </a:extLst>
          </p:cNvPr>
          <p:cNvSpPr>
            <a:spLocks noGrp="1"/>
          </p:cNvSpPr>
          <p:nvPr/>
        </p:nvSpPr>
        <p:spPr>
          <a:xfrm>
            <a:off x="819150" y="11144250"/>
            <a:ext cx="5905500" cy="1476375"/>
          </a:xfrm>
          <a:prstGeom prst="roundRect">
            <a:avLst>
              <a:gd name="adj" fmla="val 5161"/>
            </a:avLst>
          </a:prstGeom>
          <a:solidFill>
            <a:srgbClr val="FFF3DE"/>
          </a:solidFill>
          <a:ln w="19050">
            <a:solidFill>
              <a:srgbClr val="E7B768"/>
            </a:solidFill>
            <a:prstDash val="solid"/>
          </a:ln>
        </p:spPr>
      </p:sp>
      <p:sp>
        <p:nvSpPr>
          <p:cNvPr id="24" name="problem-question-copy">
            <a:extLst>
              <a:ext uri="{FF2B5EF4-FFF2-40B4-BE49-F238E27FC236}">
                <a16:creationId xmlns:a16="http://schemas.microsoft.com/office/drawing/2014/main" id="{2F39F482-CB70-4B3B-9779-9A4787F72614}"/>
              </a:ext>
            </a:extLst>
          </p:cNvPr>
          <p:cNvSpPr>
            <a:spLocks noGrp="1"/>
          </p:cNvSpPr>
          <p:nvPr/>
        </p:nvSpPr>
        <p:spPr>
          <a:xfrm>
            <a:off x="1066800" y="11372850"/>
            <a:ext cx="54102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2250" b="1" i="0">
                <a:solidFill>
                  <a:srgbClr val="B768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B76800"/>
                </a:solidFill>
                <a:latin typeface="Arial"/>
                <a:ea typeface="Arial"/>
                <a:cs typeface="Arial"/>
              </a:rPr>
              <a:t>Fixed w is open-loop. CRH-CFG asks the finite constrained question again at each observed state.</a:t>
            </a:r>
          </a:p>
        </p:txBody>
      </p:sp>
      <p:sp>
        <p:nvSpPr>
          <p:cNvPr id="25" name="method-panel">
            <a:extLst>
              <a:ext uri="{FF2B5EF4-FFF2-40B4-BE49-F238E27FC236}">
                <a16:creationId xmlns:a16="http://schemas.microsoft.com/office/drawing/2014/main" id="{B9B3E453-E8A9-4AF2-BD92-1456F4B212A0}"/>
              </a:ext>
            </a:extLst>
          </p:cNvPr>
          <p:cNvSpPr>
            <a:spLocks noGrp="1"/>
          </p:cNvSpPr>
          <p:nvPr/>
        </p:nvSpPr>
        <p:spPr>
          <a:xfrm>
            <a:off x="7429500" y="6191250"/>
            <a:ext cx="14058900" cy="7000875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9050">
            <a:solidFill>
              <a:srgbClr val="D7DCE2"/>
            </a:solidFill>
            <a:prstDash val="solid"/>
          </a:ln>
        </p:spPr>
      </p:sp>
      <p:sp>
        <p:nvSpPr>
          <p:cNvPr id="26" name="method-accent">
            <a:extLst>
              <a:ext uri="{FF2B5EF4-FFF2-40B4-BE49-F238E27FC236}">
                <a16:creationId xmlns:a16="http://schemas.microsoft.com/office/drawing/2014/main" id="{7F9295F7-251E-4F25-956E-EBC7DC05FC1E}"/>
              </a:ext>
            </a:extLst>
          </p:cNvPr>
          <p:cNvSpPr>
            <a:spLocks noGrp="1"/>
          </p:cNvSpPr>
          <p:nvPr/>
        </p:nvSpPr>
        <p:spPr>
          <a:xfrm>
            <a:off x="7429500" y="6191250"/>
            <a:ext cx="114300" cy="7000875"/>
          </a:xfrm>
          <a:prstGeom prst="rect">
            <a:avLst/>
          </a:prstGeom>
          <a:solidFill>
            <a:srgbClr val="1F6F8B"/>
          </a:solidFill>
          <a:ln w="19050">
            <a:solidFill>
              <a:srgbClr val="1F6F8B"/>
            </a:solidFill>
            <a:prstDash val="solid"/>
          </a:ln>
        </p:spPr>
      </p:sp>
      <p:sp>
        <p:nvSpPr>
          <p:cNvPr id="27" name="method-title">
            <a:extLst>
              <a:ext uri="{FF2B5EF4-FFF2-40B4-BE49-F238E27FC236}">
                <a16:creationId xmlns:a16="http://schemas.microsoft.com/office/drawing/2014/main" id="{A2CBA07B-E95A-4E76-9A1D-D3762DEDBCFA}"/>
              </a:ext>
            </a:extLst>
          </p:cNvPr>
          <p:cNvSpPr>
            <a:spLocks noGrp="1"/>
          </p:cNvSpPr>
          <p:nvPr/>
        </p:nvSpPr>
        <p:spPr>
          <a:xfrm>
            <a:off x="7753350" y="6419850"/>
            <a:ext cx="13487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1F6F8B"/>
                </a:solidFill>
                <a:latin typeface="Optima"/>
                <a:ea typeface="Optima"/>
                <a:cs typeface="Optima"/>
              </a:defRPr>
            </a:pPr>
            <a:r>
              <a:rPr sz="2850" b="1" i="0">
                <a:solidFill>
                  <a:srgbClr val="1F6F8B"/>
                </a:solidFill>
                <a:latin typeface="Optima"/>
                <a:ea typeface="Optima"/>
                <a:cs typeface="Optima"/>
              </a:rPr>
              <a:t>CRH-CFG: field reuse -&gt; endpoint reasoning -&gt; constrained 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method-formula">
                <a:extLst>
                  <a:ext uri="{FF2B5EF4-FFF2-40B4-BE49-F238E27FC236}">
                    <a16:creationId xmlns:a16="http://schemas.microsoft.com/office/drawing/2014/main" id="{1A63BDDA-ED5F-4872-93B7-E559F5CD7D5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810500" y="6934200"/>
                <a:ext cx="13296900" cy="628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t"/>
              <a:lstStyle/>
              <a:p>
                <a:pPr algn="ctr">
                  <a:defRPr sz="2550" b="0" i="1">
                    <a:solidFill>
                      <a:srgbClr val="17223B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SG" sz="2550" b="0" i="1" dirty="0" smtClean="0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zh-SG" altLang="en-US" sz="2550" b="0" i="1" dirty="0" smtClean="0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𝑣</m:t>
                          </m:r>
                        </m:e>
                        <m:sub>
                          <m:r>
                            <a:rPr lang="en-US" altLang="zh-SG" sz="2550" b="0" i="1" dirty="0" err="1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𝑤</m:t>
                          </m:r>
                        </m:sub>
                      </m:sSub>
                      <m:r>
                        <a:rPr lang="en-US" altLang="zh-SG" sz="2550" b="0" i="1" dirty="0">
                          <a:solidFill>
                            <a:srgbClr val="17223B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zh-SG" sz="2550" b="0" i="1" dirty="0" err="1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zh-SG" altLang="en-US" sz="2550" b="0" i="1" dirty="0" err="1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𝑣</m:t>
                          </m:r>
                        </m:e>
                        <m:sub>
                          <m:r>
                            <a:rPr lang="en-US" altLang="zh-SG" sz="2550" b="0" i="1" dirty="0" err="1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𝑢</m:t>
                          </m:r>
                        </m:sub>
                      </m:sSub>
                      <m:r>
                        <a:rPr lang="en-US" altLang="zh-SG" sz="2550" b="0" i="1" dirty="0">
                          <a:solidFill>
                            <a:srgbClr val="17223B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+</m:t>
                      </m:r>
                      <m:r>
                        <a:rPr lang="en-US" altLang="zh-SG" sz="2550" b="0" i="1" dirty="0">
                          <a:solidFill>
                            <a:srgbClr val="17223B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𝑤</m:t>
                      </m:r>
                      <m:d>
                        <m:dPr>
                          <m:ctrlPr>
                            <a:rPr lang="en-US" altLang="zh-SG" sz="2550" b="0" i="1" dirty="0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SG" sz="2550" b="0" i="1" dirty="0" err="1">
                                  <a:solidFill>
                                    <a:srgbClr val="17223B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zh-SG" altLang="en-US" sz="2550" b="0" i="1" dirty="0" err="1">
                                  <a:solidFill>
                                    <a:srgbClr val="17223B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SG" sz="2550" b="0" i="1" dirty="0" err="1">
                                  <a:solidFill>
                                    <a:srgbClr val="17223B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𝑐</m:t>
                              </m:r>
                            </m:sub>
                          </m:sSub>
                          <m:r>
                            <a:rPr lang="zh-SG" altLang="en-US" sz="2550" b="0" i="1" dirty="0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SG" sz="2550" b="0" i="1" dirty="0" err="1">
                                  <a:solidFill>
                                    <a:srgbClr val="17223B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zh-SG" altLang="en-US" sz="2550" b="0" i="1" dirty="0" err="1">
                                  <a:solidFill>
                                    <a:srgbClr val="17223B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SG" sz="2550" b="0" i="1" dirty="0" err="1">
                                  <a:solidFill>
                                    <a:srgbClr val="17223B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zh-CN" altLang="en-US" sz="2550" b="0" i="1" dirty="0" smtClean="0">
                          <a:solidFill>
                            <a:srgbClr val="17223B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   </m:t>
                      </m:r>
                      <m:sSub>
                        <m:sSubPr>
                          <m:ctrlPr>
                            <a:rPr lang="en-US" altLang="zh-CN" sz="2550" b="0" i="1" dirty="0" smtClean="0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550" b="0" i="1" dirty="0" smtClean="0">
                                  <a:solidFill>
                                    <a:srgbClr val="17223B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accPr>
                            <m:e>
                              <m:r>
                                <a:rPr lang="en-US" altLang="zh-CN" sz="2550" b="0" i="1" dirty="0" smtClean="0">
                                  <a:solidFill>
                                    <a:srgbClr val="17223B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sz="2550" b="0" i="1" dirty="0" smtClean="0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SG" sz="2550" b="0" i="1" dirty="0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zh-SG" sz="2550" b="0" i="1" dirty="0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𝑤</m:t>
                          </m:r>
                        </m:e>
                      </m:d>
                      <m:r>
                        <a:rPr lang="en-US" altLang="zh-SG" sz="2550" b="0" i="1" dirty="0">
                          <a:solidFill>
                            <a:srgbClr val="17223B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zh-SG" sz="2550" b="0" i="1" dirty="0" err="1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zh-SG" altLang="en-US" sz="2550" b="0" i="1" dirty="0" err="1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𝑥</m:t>
                          </m:r>
                        </m:e>
                        <m:sub>
                          <m:r>
                            <a:rPr lang="en-US" altLang="zh-SG" sz="2550" b="0" i="1" dirty="0" err="1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𝑠</m:t>
                          </m:r>
                        </m:sub>
                      </m:sSub>
                      <m:r>
                        <a:rPr lang="en-US" altLang="zh-SG" sz="2550" b="0" i="1" dirty="0">
                          <a:solidFill>
                            <a:srgbClr val="17223B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+</m:t>
                      </m:r>
                      <m:d>
                        <m:dPr>
                          <m:ctrlPr>
                            <a:rPr lang="en-US" altLang="zh-SG" sz="2550" b="0" i="1" dirty="0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zh-SG" sz="2550" b="0" i="1" dirty="0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1−</m:t>
                          </m:r>
                          <m:r>
                            <a:rPr lang="en-US" altLang="zh-SG" sz="2550" b="0" i="1" dirty="0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altLang="zh-SG" sz="2550" b="0" i="1" dirty="0" err="1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zh-SG" altLang="en-US" sz="2550" b="0" i="1" dirty="0" err="1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𝑣</m:t>
                          </m:r>
                        </m:e>
                        <m:sub>
                          <m:r>
                            <a:rPr lang="en-US" altLang="zh-SG" sz="2550" b="0" i="1" dirty="0" err="1">
                              <a:solidFill>
                                <a:srgbClr val="17223B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8" name="method-formula">
                <a:extLst>
                  <a:ext uri="{FF2B5EF4-FFF2-40B4-BE49-F238E27FC236}">
                    <a16:creationId xmlns:a16="http://schemas.microsoft.com/office/drawing/2014/main" id="{1A63BDDA-ED5F-4872-93B7-E559F5CD7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500" y="6934200"/>
                <a:ext cx="13296900" cy="628650"/>
              </a:xfrm>
              <a:prstGeom prst="rect">
                <a:avLst/>
              </a:prstGeom>
              <a:blipFill>
                <a:blip r:embed="rId5"/>
                <a:stretch>
                  <a:fillRect t="-1600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method-node-1">
            <a:extLst>
              <a:ext uri="{FF2B5EF4-FFF2-40B4-BE49-F238E27FC236}">
                <a16:creationId xmlns:a16="http://schemas.microsoft.com/office/drawing/2014/main" id="{E0BE894E-6CFA-427B-9085-EAA8939140C0}"/>
              </a:ext>
            </a:extLst>
          </p:cNvPr>
          <p:cNvSpPr>
            <a:spLocks noGrp="1"/>
          </p:cNvSpPr>
          <p:nvPr/>
        </p:nvSpPr>
        <p:spPr>
          <a:xfrm>
            <a:off x="7810500" y="7905750"/>
            <a:ext cx="2286000" cy="1695450"/>
          </a:xfrm>
          <a:prstGeom prst="roundRect">
            <a:avLst>
              <a:gd name="adj" fmla="val 4494"/>
            </a:avLst>
          </a:prstGeom>
          <a:solidFill>
            <a:srgbClr val="E9F3F6"/>
          </a:solidFill>
          <a:ln w="19050">
            <a:solidFill>
              <a:srgbClr val="9CC7D4"/>
            </a:solidFill>
            <a:prstDash val="solid"/>
          </a:ln>
        </p:spPr>
      </p:sp>
      <p:sp>
        <p:nvSpPr>
          <p:cNvPr id="30" name="method-node-title-1">
            <a:extLst>
              <a:ext uri="{FF2B5EF4-FFF2-40B4-BE49-F238E27FC236}">
                <a16:creationId xmlns:a16="http://schemas.microsoft.com/office/drawing/2014/main" id="{2D272ED5-3858-4B88-9F81-67429496A57D}"/>
              </a:ext>
            </a:extLst>
          </p:cNvPr>
          <p:cNvSpPr>
            <a:spLocks noGrp="1"/>
          </p:cNvSpPr>
          <p:nvPr/>
        </p:nvSpPr>
        <p:spPr>
          <a:xfrm>
            <a:off x="7962900" y="8096250"/>
            <a:ext cx="1981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025" b="1" i="0">
                <a:solidFill>
                  <a:srgbClr val="1F6F8B"/>
                </a:solidFill>
                <a:latin typeface="Arial"/>
                <a:ea typeface="Arial"/>
                <a:cs typeface="Arial"/>
              </a:defRPr>
            </a:pPr>
            <a:r>
              <a:rPr sz="2025" b="1" i="0" dirty="0">
                <a:solidFill>
                  <a:srgbClr val="1F6F8B"/>
                </a:solidFill>
                <a:latin typeface="Arial"/>
                <a:ea typeface="Arial"/>
                <a:cs typeface="Arial"/>
              </a:rPr>
              <a:t>1. Reuse field</a:t>
            </a:r>
          </a:p>
        </p:txBody>
      </p:sp>
      <p:sp>
        <p:nvSpPr>
          <p:cNvPr id="31" name="method-node-body-1">
            <a:extLst>
              <a:ext uri="{FF2B5EF4-FFF2-40B4-BE49-F238E27FC236}">
                <a16:creationId xmlns:a16="http://schemas.microsoft.com/office/drawing/2014/main" id="{0305F3AA-86F6-4538-89C3-A557ECC45BE6}"/>
              </a:ext>
            </a:extLst>
          </p:cNvPr>
          <p:cNvSpPr>
            <a:spLocks noGrp="1"/>
          </p:cNvSpPr>
          <p:nvPr/>
        </p:nvSpPr>
        <p:spPr>
          <a:xfrm>
            <a:off x="7981950" y="8591550"/>
            <a:ext cx="19431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725" b="0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Frozen conditional + unconditional pair</a:t>
            </a:r>
          </a:p>
        </p:txBody>
      </p:sp>
      <p:sp>
        <p:nvSpPr>
          <p:cNvPr id="32" name="method-arrow-1">
            <a:extLst>
              <a:ext uri="{FF2B5EF4-FFF2-40B4-BE49-F238E27FC236}">
                <a16:creationId xmlns:a16="http://schemas.microsoft.com/office/drawing/2014/main" id="{1D099888-844A-4BF5-82DF-4BC2C6D2C703}"/>
              </a:ext>
            </a:extLst>
          </p:cNvPr>
          <p:cNvSpPr>
            <a:spLocks noGrp="1"/>
          </p:cNvSpPr>
          <p:nvPr/>
        </p:nvSpPr>
        <p:spPr>
          <a:xfrm>
            <a:off x="10172700" y="8458200"/>
            <a:ext cx="342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3450" b="1" i="0">
                <a:solidFill>
                  <a:srgbClr val="1F6F8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F6F8B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33" name="method-node-2">
            <a:extLst>
              <a:ext uri="{FF2B5EF4-FFF2-40B4-BE49-F238E27FC236}">
                <a16:creationId xmlns:a16="http://schemas.microsoft.com/office/drawing/2014/main" id="{83A50516-0083-4046-926C-88CA0D4705D1}"/>
              </a:ext>
            </a:extLst>
          </p:cNvPr>
          <p:cNvSpPr>
            <a:spLocks noGrp="1"/>
          </p:cNvSpPr>
          <p:nvPr/>
        </p:nvSpPr>
        <p:spPr>
          <a:xfrm>
            <a:off x="10591800" y="7905750"/>
            <a:ext cx="2286000" cy="1695450"/>
          </a:xfrm>
          <a:prstGeom prst="roundRect">
            <a:avLst>
              <a:gd name="adj" fmla="val 4494"/>
            </a:avLst>
          </a:prstGeom>
          <a:solidFill>
            <a:srgbClr val="E9F3F6"/>
          </a:solidFill>
          <a:ln w="19050">
            <a:solidFill>
              <a:srgbClr val="9CC7D4"/>
            </a:solidFill>
            <a:prstDash val="solid"/>
          </a:ln>
        </p:spPr>
      </p:sp>
      <p:sp>
        <p:nvSpPr>
          <p:cNvPr id="34" name="method-node-title-2">
            <a:extLst>
              <a:ext uri="{FF2B5EF4-FFF2-40B4-BE49-F238E27FC236}">
                <a16:creationId xmlns:a16="http://schemas.microsoft.com/office/drawing/2014/main" id="{7B77D60E-93BF-4AAC-9E46-BCE764615C06}"/>
              </a:ext>
            </a:extLst>
          </p:cNvPr>
          <p:cNvSpPr>
            <a:spLocks noGrp="1"/>
          </p:cNvSpPr>
          <p:nvPr/>
        </p:nvSpPr>
        <p:spPr>
          <a:xfrm>
            <a:off x="10744200" y="8096250"/>
            <a:ext cx="1981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025" b="1" i="0">
                <a:solidFill>
                  <a:srgbClr val="1F6F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F6F8B"/>
                </a:solidFill>
                <a:latin typeface="Arial"/>
                <a:ea typeface="Arial"/>
                <a:cs typeface="Arial"/>
              </a:rPr>
              <a:t>2. Forecast</a:t>
            </a:r>
          </a:p>
        </p:txBody>
      </p:sp>
      <p:sp>
        <p:nvSpPr>
          <p:cNvPr id="35" name="method-node-body-2">
            <a:extLst>
              <a:ext uri="{FF2B5EF4-FFF2-40B4-BE49-F238E27FC236}">
                <a16:creationId xmlns:a16="http://schemas.microsoft.com/office/drawing/2014/main" id="{F01D7AA2-FEE3-45A5-8C83-124F7DA7677C}"/>
              </a:ext>
            </a:extLst>
          </p:cNvPr>
          <p:cNvSpPr>
            <a:spLocks noGrp="1"/>
          </p:cNvSpPr>
          <p:nvPr/>
        </p:nvSpPr>
        <p:spPr>
          <a:xfrm>
            <a:off x="10763250" y="8591550"/>
            <a:ext cx="19431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725" b="0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Affine scale bank -&gt; analytic endpoints</a:t>
            </a:r>
          </a:p>
        </p:txBody>
      </p:sp>
      <p:sp>
        <p:nvSpPr>
          <p:cNvPr id="36" name="method-arrow-2">
            <a:extLst>
              <a:ext uri="{FF2B5EF4-FFF2-40B4-BE49-F238E27FC236}">
                <a16:creationId xmlns:a16="http://schemas.microsoft.com/office/drawing/2014/main" id="{17C1082C-41F3-420A-8EFD-DBA633A9295E}"/>
              </a:ext>
            </a:extLst>
          </p:cNvPr>
          <p:cNvSpPr>
            <a:spLocks noGrp="1"/>
          </p:cNvSpPr>
          <p:nvPr/>
        </p:nvSpPr>
        <p:spPr>
          <a:xfrm>
            <a:off x="12954000" y="8458200"/>
            <a:ext cx="342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3450" b="1" i="0">
                <a:solidFill>
                  <a:srgbClr val="1F6F8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F6F8B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37" name="method-node-3">
            <a:extLst>
              <a:ext uri="{FF2B5EF4-FFF2-40B4-BE49-F238E27FC236}">
                <a16:creationId xmlns:a16="http://schemas.microsoft.com/office/drawing/2014/main" id="{66E6E2DF-B7F5-490B-9CFB-27977333200F}"/>
              </a:ext>
            </a:extLst>
          </p:cNvPr>
          <p:cNvSpPr>
            <a:spLocks noGrp="1"/>
          </p:cNvSpPr>
          <p:nvPr/>
        </p:nvSpPr>
        <p:spPr>
          <a:xfrm>
            <a:off x="13373100" y="7905750"/>
            <a:ext cx="2286000" cy="1695450"/>
          </a:xfrm>
          <a:prstGeom prst="roundRect">
            <a:avLst>
              <a:gd name="adj" fmla="val 4494"/>
            </a:avLst>
          </a:prstGeom>
          <a:solidFill>
            <a:srgbClr val="E9F3F6"/>
          </a:solidFill>
          <a:ln w="19050">
            <a:solidFill>
              <a:srgbClr val="9CC7D4"/>
            </a:solidFill>
            <a:prstDash val="solid"/>
          </a:ln>
        </p:spPr>
      </p:sp>
      <p:sp>
        <p:nvSpPr>
          <p:cNvPr id="38" name="method-node-title-3">
            <a:extLst>
              <a:ext uri="{FF2B5EF4-FFF2-40B4-BE49-F238E27FC236}">
                <a16:creationId xmlns:a16="http://schemas.microsoft.com/office/drawing/2014/main" id="{406426B8-4BE7-4360-9578-7B44880CCE6B}"/>
              </a:ext>
            </a:extLst>
          </p:cNvPr>
          <p:cNvSpPr>
            <a:spLocks noGrp="1"/>
          </p:cNvSpPr>
          <p:nvPr/>
        </p:nvSpPr>
        <p:spPr>
          <a:xfrm>
            <a:off x="13525500" y="8096250"/>
            <a:ext cx="1981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025" b="1" i="0">
                <a:solidFill>
                  <a:srgbClr val="1F6F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F6F8B"/>
                </a:solidFill>
                <a:latin typeface="Arial"/>
                <a:ea typeface="Arial"/>
                <a:cs typeface="Arial"/>
              </a:rPr>
              <a:t>3. Score</a:t>
            </a:r>
          </a:p>
        </p:txBody>
      </p:sp>
      <p:sp>
        <p:nvSpPr>
          <p:cNvPr id="39" name="method-node-body-3">
            <a:extLst>
              <a:ext uri="{FF2B5EF4-FFF2-40B4-BE49-F238E27FC236}">
                <a16:creationId xmlns:a16="http://schemas.microsoft.com/office/drawing/2014/main" id="{3AA5BFBC-2997-459E-95D8-A2DF538A8303}"/>
              </a:ext>
            </a:extLst>
          </p:cNvPr>
          <p:cNvSpPr>
            <a:spLocks noGrp="1"/>
          </p:cNvSpPr>
          <p:nvPr/>
        </p:nvSpPr>
        <p:spPr>
          <a:xfrm>
            <a:off x="13544550" y="8591550"/>
            <a:ext cx="19431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725" b="0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Frozen F_ctrl: margin + protected drift</a:t>
            </a:r>
          </a:p>
        </p:txBody>
      </p:sp>
      <p:sp>
        <p:nvSpPr>
          <p:cNvPr id="40" name="method-arrow-3">
            <a:extLst>
              <a:ext uri="{FF2B5EF4-FFF2-40B4-BE49-F238E27FC236}">
                <a16:creationId xmlns:a16="http://schemas.microsoft.com/office/drawing/2014/main" id="{C1674437-0DC8-4C46-8E81-B47D0B506D2F}"/>
              </a:ext>
            </a:extLst>
          </p:cNvPr>
          <p:cNvSpPr>
            <a:spLocks noGrp="1"/>
          </p:cNvSpPr>
          <p:nvPr/>
        </p:nvSpPr>
        <p:spPr>
          <a:xfrm>
            <a:off x="15735300" y="8458200"/>
            <a:ext cx="342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3450" b="1" i="0">
                <a:solidFill>
                  <a:srgbClr val="1F6F8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F6F8B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41" name="method-node-4">
            <a:extLst>
              <a:ext uri="{FF2B5EF4-FFF2-40B4-BE49-F238E27FC236}">
                <a16:creationId xmlns:a16="http://schemas.microsoft.com/office/drawing/2014/main" id="{ECAD16E1-CFF8-449E-BF1D-04F921543630}"/>
              </a:ext>
            </a:extLst>
          </p:cNvPr>
          <p:cNvSpPr>
            <a:spLocks noGrp="1"/>
          </p:cNvSpPr>
          <p:nvPr/>
        </p:nvSpPr>
        <p:spPr>
          <a:xfrm>
            <a:off x="16154400" y="7905750"/>
            <a:ext cx="2286000" cy="1695450"/>
          </a:xfrm>
          <a:prstGeom prst="roundRect">
            <a:avLst>
              <a:gd name="adj" fmla="val 4494"/>
            </a:avLst>
          </a:prstGeom>
          <a:solidFill>
            <a:srgbClr val="E9F3F6"/>
          </a:solidFill>
          <a:ln w="19050">
            <a:solidFill>
              <a:srgbClr val="9CC7D4"/>
            </a:solidFill>
            <a:prstDash val="solid"/>
          </a:ln>
        </p:spPr>
      </p:sp>
      <p:sp>
        <p:nvSpPr>
          <p:cNvPr id="42" name="method-node-title-4">
            <a:extLst>
              <a:ext uri="{FF2B5EF4-FFF2-40B4-BE49-F238E27FC236}">
                <a16:creationId xmlns:a16="http://schemas.microsoft.com/office/drawing/2014/main" id="{9D2B23D0-3BCD-426A-A9EA-4747C15811A0}"/>
              </a:ext>
            </a:extLst>
          </p:cNvPr>
          <p:cNvSpPr>
            <a:spLocks noGrp="1"/>
          </p:cNvSpPr>
          <p:nvPr/>
        </p:nvSpPr>
        <p:spPr>
          <a:xfrm>
            <a:off x="16306800" y="8096250"/>
            <a:ext cx="1981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025" b="1" i="0">
                <a:solidFill>
                  <a:srgbClr val="1F6F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F6F8B"/>
                </a:solidFill>
                <a:latin typeface="Arial"/>
                <a:ea typeface="Arial"/>
                <a:cs typeface="Arial"/>
              </a:rPr>
              <a:t>4. Constrain</a:t>
            </a:r>
          </a:p>
        </p:txBody>
      </p:sp>
      <p:sp>
        <p:nvSpPr>
          <p:cNvPr id="43" name="method-node-body-4">
            <a:extLst>
              <a:ext uri="{FF2B5EF4-FFF2-40B4-BE49-F238E27FC236}">
                <a16:creationId xmlns:a16="http://schemas.microsoft.com/office/drawing/2014/main" id="{0F9DC2CA-2D00-4B8B-8EE6-CC5EF8A7DDBF}"/>
              </a:ext>
            </a:extLst>
          </p:cNvPr>
          <p:cNvSpPr>
            <a:spLocks noGrp="1"/>
          </p:cNvSpPr>
          <p:nvPr/>
        </p:nvSpPr>
        <p:spPr>
          <a:xfrm>
            <a:off x="16325850" y="8591550"/>
            <a:ext cx="19431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725" b="0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Feasible set + minimum intervention</a:t>
            </a:r>
          </a:p>
        </p:txBody>
      </p:sp>
      <p:sp>
        <p:nvSpPr>
          <p:cNvPr id="44" name="method-arrow-4">
            <a:extLst>
              <a:ext uri="{FF2B5EF4-FFF2-40B4-BE49-F238E27FC236}">
                <a16:creationId xmlns:a16="http://schemas.microsoft.com/office/drawing/2014/main" id="{43E77429-30CA-4E6F-803E-2C3F9B6898AC}"/>
              </a:ext>
            </a:extLst>
          </p:cNvPr>
          <p:cNvSpPr>
            <a:spLocks noGrp="1"/>
          </p:cNvSpPr>
          <p:nvPr/>
        </p:nvSpPr>
        <p:spPr>
          <a:xfrm>
            <a:off x="18516600" y="8458200"/>
            <a:ext cx="342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3450" b="1" i="0">
                <a:solidFill>
                  <a:srgbClr val="1F6F8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F6F8B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45" name="method-node-5">
            <a:extLst>
              <a:ext uri="{FF2B5EF4-FFF2-40B4-BE49-F238E27FC236}">
                <a16:creationId xmlns:a16="http://schemas.microsoft.com/office/drawing/2014/main" id="{443D9F15-B8F5-49BE-AF35-89A2AF2CA60D}"/>
              </a:ext>
            </a:extLst>
          </p:cNvPr>
          <p:cNvSpPr>
            <a:spLocks noGrp="1"/>
          </p:cNvSpPr>
          <p:nvPr/>
        </p:nvSpPr>
        <p:spPr>
          <a:xfrm>
            <a:off x="18935700" y="7905750"/>
            <a:ext cx="2286000" cy="1695450"/>
          </a:xfrm>
          <a:prstGeom prst="roundRect">
            <a:avLst>
              <a:gd name="adj" fmla="val 4494"/>
            </a:avLst>
          </a:prstGeom>
          <a:solidFill>
            <a:srgbClr val="E9F3F6"/>
          </a:solidFill>
          <a:ln w="19050">
            <a:solidFill>
              <a:srgbClr val="9CC7D4"/>
            </a:solidFill>
            <a:prstDash val="solid"/>
          </a:ln>
        </p:spPr>
      </p:sp>
      <p:sp>
        <p:nvSpPr>
          <p:cNvPr id="46" name="method-node-title-5">
            <a:extLst>
              <a:ext uri="{FF2B5EF4-FFF2-40B4-BE49-F238E27FC236}">
                <a16:creationId xmlns:a16="http://schemas.microsoft.com/office/drawing/2014/main" id="{E99ACE4E-8879-4949-9F89-229CA12CE653}"/>
              </a:ext>
            </a:extLst>
          </p:cNvPr>
          <p:cNvSpPr>
            <a:spLocks noGrp="1"/>
          </p:cNvSpPr>
          <p:nvPr/>
        </p:nvSpPr>
        <p:spPr>
          <a:xfrm>
            <a:off x="19088100" y="8096250"/>
            <a:ext cx="1981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025" b="1" i="0">
                <a:solidFill>
                  <a:srgbClr val="1F6F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F6F8B"/>
                </a:solidFill>
                <a:latin typeface="Arial"/>
                <a:ea typeface="Arial"/>
                <a:cs typeface="Arial"/>
              </a:rPr>
              <a:t>5. Execute</a:t>
            </a:r>
          </a:p>
        </p:txBody>
      </p:sp>
      <p:sp>
        <p:nvSpPr>
          <p:cNvPr id="47" name="method-node-body-5">
            <a:extLst>
              <a:ext uri="{FF2B5EF4-FFF2-40B4-BE49-F238E27FC236}">
                <a16:creationId xmlns:a16="http://schemas.microsoft.com/office/drawing/2014/main" id="{42B09AE4-74CA-4622-A832-21391242971D}"/>
              </a:ext>
            </a:extLst>
          </p:cNvPr>
          <p:cNvSpPr>
            <a:spLocks noGrp="1"/>
          </p:cNvSpPr>
          <p:nvPr/>
        </p:nvSpPr>
        <p:spPr>
          <a:xfrm>
            <a:off x="19107150" y="8591550"/>
            <a:ext cx="19431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725" b="0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Gate / fallback -&gt; held Heun pair -&gt; replan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method-detail">
                <a:extLst>
                  <a:ext uri="{FF2B5EF4-FFF2-40B4-BE49-F238E27FC236}">
                    <a16:creationId xmlns:a16="http://schemas.microsoft.com/office/drawing/2014/main" id="{39B8C80A-CDC2-4B1E-A31C-D37FC3116D6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848600" y="10001250"/>
                <a:ext cx="13220700" cy="13335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t"/>
              <a:lstStyle/>
              <a:p>
                <a:pPr algn="ctr">
                  <a:defRPr sz="2100" b="0" i="0">
                    <a:solidFill>
                      <a:srgbClr val="52606D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SG" sz="2100" b="0" i="1" dirty="0" smtClean="0">
                            <a:solidFill>
                              <a:srgbClr val="52606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zh-SG" altLang="en-US" sz="2100" b="0" i="1" dirty="0" smtClean="0">
                            <a:solidFill>
                              <a:srgbClr val="52606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𝐴</m:t>
                        </m:r>
                      </m:e>
                      <m:sub>
                        <m:r>
                          <a:rPr lang="en-US" altLang="zh-SG" sz="2100" b="0" i="1" dirty="0">
                            <a:solidFill>
                              <a:srgbClr val="52606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𝑠</m:t>
                        </m:r>
                      </m:sub>
                    </m:sSub>
                  </m:oMath>
                </a14:m>
                <a:r>
                  <a:rPr sz="2100" b="0" i="0" dirty="0">
                    <a:solidFill>
                      <a:srgbClr val="52606D"/>
                    </a:solidFill>
                    <a:latin typeface="Arial"/>
                    <a:ea typeface="Arial"/>
                    <a:cs typeface="Arial"/>
                  </a:rPr>
                  <a:t>= {w: target margin &gt;= m(s), protected drift &lt;= 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solidFill>
                          <a:srgbClr val="52606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𝜖</m:t>
                    </m:r>
                    <m:d>
                      <m:dPr>
                        <m:ctrlPr>
                          <a:rPr lang="en-US" altLang="zh-CN" sz="2100" b="0" i="1" dirty="0">
                            <a:solidFill>
                              <a:srgbClr val="52606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dPr>
                      <m:e>
                        <m:r>
                          <a:rPr lang="en-US" sz="2100" b="0" i="1" dirty="0">
                            <a:solidFill>
                              <a:srgbClr val="52606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𝑠</m:t>
                        </m:r>
                      </m:e>
                    </m:d>
                  </m:oMath>
                </a14:m>
                <a:r>
                  <a:rPr sz="2100" b="0" i="0" dirty="0">
                    <a:solidFill>
                      <a:srgbClr val="52606D"/>
                    </a:solidFill>
                    <a:latin typeface="Arial"/>
                    <a:ea typeface="Arial"/>
                    <a:cs typeface="Arial"/>
                  </a:rPr>
                  <a:t>}; choose the feasible w nearest 1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SG" sz="2100" b="0" i="1" dirty="0" smtClean="0">
                            <a:solidFill>
                              <a:srgbClr val="52606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zh-SG" altLang="en-US" sz="2100" b="0" i="1" dirty="0" smtClean="0">
                            <a:solidFill>
                              <a:srgbClr val="52606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𝑤</m:t>
                        </m:r>
                      </m:e>
                      <m:sub>
                        <m:r>
                          <a:rPr lang="en-US" altLang="zh-SG" sz="2100" b="0" i="1" dirty="0" err="1">
                            <a:solidFill>
                              <a:srgbClr val="52606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𝑝𝑟𝑒𝑣</m:t>
                        </m:r>
                      </m:sub>
                    </m:sSub>
                  </m:oMath>
                </a14:m>
                <a:r>
                  <a:rPr sz="2100" b="0" i="0" dirty="0">
                    <a:solidFill>
                      <a:srgbClr val="52606D"/>
                    </a:solidFill>
                    <a:latin typeface="Arial"/>
                    <a:ea typeface="Arial"/>
                    <a:cs typeface="Arial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SG" sz="2100" b="0" i="1" dirty="0" smtClean="0">
                            <a:solidFill>
                              <a:srgbClr val="52606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zh-SG" altLang="en-US" sz="2100" b="0" i="1" dirty="0" smtClean="0">
                            <a:solidFill>
                              <a:srgbClr val="52606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𝐹</m:t>
                        </m:r>
                      </m:e>
                      <m:sub>
                        <m:r>
                          <a:rPr lang="zh-SG" altLang="en-US" sz="2100" b="0" i="1" dirty="0" smtClean="0">
                            <a:solidFill>
                              <a:srgbClr val="52606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𝑒𝑣𝑎𝑙</m:t>
                        </m:r>
                      </m:sub>
                    </m:sSub>
                  </m:oMath>
                </a14:m>
                <a:r>
                  <a:rPr sz="2100" b="0" i="0" dirty="0">
                    <a:solidFill>
                      <a:srgbClr val="52606D"/>
                    </a:solidFill>
                    <a:latin typeface="Arial"/>
                    <a:ea typeface="Arial"/>
                    <a:cs typeface="Arial"/>
                  </a:rPr>
                  <a:t> stays outside the loop and measures only final outputs.</a:t>
                </a:r>
              </a:p>
            </p:txBody>
          </p:sp>
        </mc:Choice>
        <mc:Fallback xmlns="">
          <p:sp>
            <p:nvSpPr>
              <p:cNvPr id="48" name="method-detail">
                <a:extLst>
                  <a:ext uri="{FF2B5EF4-FFF2-40B4-BE49-F238E27FC236}">
                    <a16:creationId xmlns:a16="http://schemas.microsoft.com/office/drawing/2014/main" id="{39B8C80A-CDC2-4B1E-A31C-D37FC3116D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600" y="10001250"/>
                <a:ext cx="13220700" cy="1333500"/>
              </a:xfrm>
              <a:prstGeom prst="rect">
                <a:avLst/>
              </a:prstGeom>
              <a:blipFill>
                <a:blip r:embed="rId6"/>
                <a:stretch>
                  <a:fillRect t="-6604" r="-384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method-budget">
            <a:extLst>
              <a:ext uri="{FF2B5EF4-FFF2-40B4-BE49-F238E27FC236}">
                <a16:creationId xmlns:a16="http://schemas.microsoft.com/office/drawing/2014/main" id="{EDC9FC6A-2D57-4CD5-84DD-BE0716BD9D50}"/>
              </a:ext>
            </a:extLst>
          </p:cNvPr>
          <p:cNvSpPr>
            <a:spLocks noGrp="1"/>
          </p:cNvSpPr>
          <p:nvPr/>
        </p:nvSpPr>
        <p:spPr>
          <a:xfrm>
            <a:off x="9048750" y="11620500"/>
            <a:ext cx="10810875" cy="1047750"/>
          </a:xfrm>
          <a:prstGeom prst="roundRect">
            <a:avLst>
              <a:gd name="adj" fmla="val 7273"/>
            </a:avLst>
          </a:prstGeom>
          <a:solidFill>
            <a:srgbClr val="E8F5F1"/>
          </a:solidFill>
          <a:ln w="19050">
            <a:solidFill>
              <a:srgbClr val="8CCDBB"/>
            </a:solidFill>
            <a:prstDash val="solid"/>
          </a:ln>
        </p:spPr>
      </p:sp>
      <p:sp>
        <p:nvSpPr>
          <p:cNvPr id="50" name="method-budget-copy">
            <a:extLst>
              <a:ext uri="{FF2B5EF4-FFF2-40B4-BE49-F238E27FC236}">
                <a16:creationId xmlns:a16="http://schemas.microsoft.com/office/drawing/2014/main" id="{ECAFF051-666C-4A52-BA0F-DF70DC26E2CD}"/>
              </a:ext>
            </a:extLst>
          </p:cNvPr>
          <p:cNvSpPr>
            <a:spLocks noGrp="1"/>
          </p:cNvSpPr>
          <p:nvPr/>
        </p:nvSpPr>
        <p:spPr>
          <a:xfrm>
            <a:off x="9258300" y="118681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2325" b="1" i="0">
                <a:solidFill>
                  <a:srgbClr val="0D7C6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D7C66"/>
                </a:solidFill>
                <a:latin typeface="Arial"/>
                <a:ea typeface="Arial"/>
                <a:cs typeface="Arial"/>
              </a:rPr>
              <a:t>Execution: early gate | decide every 5/50 steps | hold w* across each Heun pair | matched U-Net work</a:t>
            </a:r>
          </a:p>
        </p:txBody>
      </p:sp>
      <p:sp>
        <p:nvSpPr>
          <p:cNvPr id="51" name="results-panel">
            <a:extLst>
              <a:ext uri="{FF2B5EF4-FFF2-40B4-BE49-F238E27FC236}">
                <a16:creationId xmlns:a16="http://schemas.microsoft.com/office/drawing/2014/main" id="{36B12453-D8A5-4C50-863A-09A988468AE0}"/>
              </a:ext>
            </a:extLst>
          </p:cNvPr>
          <p:cNvSpPr>
            <a:spLocks noGrp="1"/>
          </p:cNvSpPr>
          <p:nvPr/>
        </p:nvSpPr>
        <p:spPr>
          <a:xfrm>
            <a:off x="457200" y="13506450"/>
            <a:ext cx="9144000" cy="847725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9050">
            <a:solidFill>
              <a:srgbClr val="D7DCE2"/>
            </a:solidFill>
            <a:prstDash val="solid"/>
          </a:ln>
        </p:spPr>
      </p:sp>
      <p:sp>
        <p:nvSpPr>
          <p:cNvPr id="52" name="results-accent">
            <a:extLst>
              <a:ext uri="{FF2B5EF4-FFF2-40B4-BE49-F238E27FC236}">
                <a16:creationId xmlns:a16="http://schemas.microsoft.com/office/drawing/2014/main" id="{DF067139-E550-41B1-9B1A-6ACBD8CCA9CC}"/>
              </a:ext>
            </a:extLst>
          </p:cNvPr>
          <p:cNvSpPr>
            <a:spLocks noGrp="1"/>
          </p:cNvSpPr>
          <p:nvPr/>
        </p:nvSpPr>
        <p:spPr>
          <a:xfrm>
            <a:off x="457200" y="13506450"/>
            <a:ext cx="114300" cy="8477250"/>
          </a:xfrm>
          <a:prstGeom prst="rect">
            <a:avLst/>
          </a:prstGeom>
          <a:solidFill>
            <a:srgbClr val="0D7C66"/>
          </a:solidFill>
          <a:ln w="19050">
            <a:solidFill>
              <a:srgbClr val="0D7C66"/>
            </a:solidFill>
            <a:prstDash val="solid"/>
          </a:ln>
        </p:spPr>
      </p:sp>
      <p:sp>
        <p:nvSpPr>
          <p:cNvPr id="53" name="results-title">
            <a:extLst>
              <a:ext uri="{FF2B5EF4-FFF2-40B4-BE49-F238E27FC236}">
                <a16:creationId xmlns:a16="http://schemas.microsoft.com/office/drawing/2014/main" id="{68D23187-666F-4866-9255-9722B5B77916}"/>
              </a:ext>
            </a:extLst>
          </p:cNvPr>
          <p:cNvSpPr>
            <a:spLocks noGrp="1"/>
          </p:cNvSpPr>
          <p:nvPr/>
        </p:nvSpPr>
        <p:spPr>
          <a:xfrm>
            <a:off x="781050" y="1373505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0D7C66"/>
                </a:solidFill>
                <a:latin typeface="Optima"/>
                <a:ea typeface="Optima"/>
                <a:cs typeface="Optima"/>
              </a:defRPr>
            </a:pPr>
            <a:r>
              <a:rPr sz="2850" b="1" i="0">
                <a:solidFill>
                  <a:srgbClr val="0D7C66"/>
                </a:solidFill>
                <a:latin typeface="Optima"/>
                <a:ea typeface="Optima"/>
                <a:cs typeface="Optima"/>
              </a:rPr>
              <a:t>Evidence: adherence at matched generator work</a:t>
            </a:r>
          </a:p>
        </p:txBody>
      </p:sp>
      <p:graphicFrame>
        <p:nvGraphicFramePr>
          <p:cNvPr id="153" name="Chart"/>
          <p:cNvGraphicFramePr/>
          <p:nvPr/>
        </p:nvGraphicFramePr>
        <p:xfrm>
          <a:off x="781050" y="14344650"/>
          <a:ext cx="84391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5" name="results-counts">
            <a:extLst>
              <a:ext uri="{FF2B5EF4-FFF2-40B4-BE49-F238E27FC236}">
                <a16:creationId xmlns:a16="http://schemas.microsoft.com/office/drawing/2014/main" id="{FB9469CC-1610-4833-9317-9B2C3B6CC256}"/>
              </a:ext>
            </a:extLst>
          </p:cNvPr>
          <p:cNvSpPr>
            <a:spLocks noGrp="1"/>
          </p:cNvSpPr>
          <p:nvPr/>
        </p:nvSpPr>
        <p:spPr>
          <a:xfrm>
            <a:off x="819150" y="18516600"/>
            <a:ext cx="84201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025" b="1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Observed successes (out of 1,000):</a:t>
            </a:r>
          </a:p>
          <a:p>
            <a:pPr algn="ctr">
              <a:defRPr sz="2025" b="1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Smiling 985 -&gt; 987   |   Bangs 980 -&gt; 984   |   Blond 987 -&gt; 993</a:t>
            </a:r>
          </a:p>
        </p:txBody>
      </p:sp>
      <p:sp>
        <p:nvSpPr>
          <p:cNvPr id="56" name="results-caveat">
            <a:extLst>
              <a:ext uri="{FF2B5EF4-FFF2-40B4-BE49-F238E27FC236}">
                <a16:creationId xmlns:a16="http://schemas.microsoft.com/office/drawing/2014/main" id="{2DDAFCA9-451F-4892-9402-8F7E9E4DA30A}"/>
              </a:ext>
            </a:extLst>
          </p:cNvPr>
          <p:cNvSpPr>
            <a:spLocks noGrp="1"/>
          </p:cNvSpPr>
          <p:nvPr/>
        </p:nvSpPr>
        <p:spPr>
          <a:xfrm>
            <a:off x="819150" y="19773900"/>
            <a:ext cx="8420100" cy="1666875"/>
          </a:xfrm>
          <a:prstGeom prst="roundRect">
            <a:avLst>
              <a:gd name="adj" fmla="val 4571"/>
            </a:avLst>
          </a:prstGeom>
          <a:solidFill>
            <a:srgbClr val="FFF3DE"/>
          </a:solidFill>
          <a:ln w="19050">
            <a:solidFill>
              <a:srgbClr val="E7B768"/>
            </a:solidFill>
            <a:prstDash val="solid"/>
          </a:ln>
        </p:spPr>
      </p:sp>
      <p:sp>
        <p:nvSpPr>
          <p:cNvPr id="57" name="results-caveat-copy">
            <a:extLst>
              <a:ext uri="{FF2B5EF4-FFF2-40B4-BE49-F238E27FC236}">
                <a16:creationId xmlns:a16="http://schemas.microsoft.com/office/drawing/2014/main" id="{4156D2BA-34AC-4B3E-A671-99E9A1404880}"/>
              </a:ext>
            </a:extLst>
          </p:cNvPr>
          <p:cNvSpPr>
            <a:spLocks noGrp="1"/>
          </p:cNvSpPr>
          <p:nvPr/>
        </p:nvSpPr>
        <p:spPr>
          <a:xfrm>
            <a:off x="1066800" y="19926300"/>
            <a:ext cx="79248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725" b="0" i="0">
                <a:solidFill>
                  <a:srgbClr val="B768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B76800"/>
                </a:solidFill>
                <a:latin typeface="Arial"/>
                <a:ea typeface="Arial"/>
                <a:cs typeface="Arial"/>
              </a:rPr>
              <a:t>Claim -&gt; evidence -&gt; boundary</a:t>
            </a:r>
          </a:p>
          <a:p>
            <a:pPr algn="l">
              <a:defRPr sz="1725" b="0" i="0">
                <a:solidFill>
                  <a:srgbClr val="B768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B76800"/>
                </a:solidFill>
                <a:latin typeface="Arial"/>
                <a:ea typeface="Arial"/>
                <a:cs typeface="Arial"/>
              </a:rPr>
              <a:t>Mean success: .9840 -&gt; .9880 (+0.4 pp). Cost: +1.80%, same U-Net work.</a:t>
            </a:r>
          </a:p>
          <a:p>
            <a:pPr algn="l">
              <a:defRPr sz="1725" b="0" i="0">
                <a:solidFill>
                  <a:srgbClr val="B768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B76800"/>
                </a:solidFill>
                <a:latin typeface="Arial"/>
                <a:ea typeface="Arial"/>
                <a:cs typeface="Arial"/>
              </a:rPr>
              <a:t>Common-w=1 preservation does not improve; KID_marg rises for all targets but cannot identify conditional quality. No per-seed transitions: descriptive only.</a:t>
            </a:r>
          </a:p>
        </p:txBody>
      </p:sp>
      <p:sp>
        <p:nvSpPr>
          <p:cNvPr id="58" name="qualitative-panel">
            <a:extLst>
              <a:ext uri="{FF2B5EF4-FFF2-40B4-BE49-F238E27FC236}">
                <a16:creationId xmlns:a16="http://schemas.microsoft.com/office/drawing/2014/main" id="{9A01D0B2-443D-43C7-A31E-7FA88D3A97D8}"/>
              </a:ext>
            </a:extLst>
          </p:cNvPr>
          <p:cNvSpPr>
            <a:spLocks noGrp="1"/>
          </p:cNvSpPr>
          <p:nvPr/>
        </p:nvSpPr>
        <p:spPr>
          <a:xfrm>
            <a:off x="9906000" y="13506450"/>
            <a:ext cx="11582400" cy="847725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9050">
            <a:solidFill>
              <a:srgbClr val="D7DCE2"/>
            </a:solidFill>
            <a:prstDash val="solid"/>
          </a:ln>
        </p:spPr>
      </p:sp>
      <p:sp>
        <p:nvSpPr>
          <p:cNvPr id="59" name="qualitative-accent">
            <a:extLst>
              <a:ext uri="{FF2B5EF4-FFF2-40B4-BE49-F238E27FC236}">
                <a16:creationId xmlns:a16="http://schemas.microsoft.com/office/drawing/2014/main" id="{DB9004EC-7143-47C8-99D4-08DA04602E6C}"/>
              </a:ext>
            </a:extLst>
          </p:cNvPr>
          <p:cNvSpPr>
            <a:spLocks noGrp="1"/>
          </p:cNvSpPr>
          <p:nvPr/>
        </p:nvSpPr>
        <p:spPr>
          <a:xfrm>
            <a:off x="9906000" y="13506450"/>
            <a:ext cx="114300" cy="8477250"/>
          </a:xfrm>
          <a:prstGeom prst="rect">
            <a:avLst/>
          </a:prstGeom>
          <a:solidFill>
            <a:srgbClr val="C41230"/>
          </a:solidFill>
          <a:ln w="19050">
            <a:solidFill>
              <a:srgbClr val="C41230"/>
            </a:solidFill>
            <a:prstDash val="solid"/>
          </a:ln>
        </p:spPr>
      </p:sp>
      <p:sp>
        <p:nvSpPr>
          <p:cNvPr id="60" name="qualitative-title">
            <a:extLst>
              <a:ext uri="{FF2B5EF4-FFF2-40B4-BE49-F238E27FC236}">
                <a16:creationId xmlns:a16="http://schemas.microsoft.com/office/drawing/2014/main" id="{8458AE36-E6DE-4584-A00D-8A473D8C6152}"/>
              </a:ext>
            </a:extLst>
          </p:cNvPr>
          <p:cNvSpPr>
            <a:spLocks noGrp="1"/>
          </p:cNvSpPr>
          <p:nvPr/>
        </p:nvSpPr>
        <p:spPr>
          <a:xfrm>
            <a:off x="10229850" y="13735050"/>
            <a:ext cx="11010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C41230"/>
                </a:solidFill>
                <a:latin typeface="Optima"/>
                <a:ea typeface="Optima"/>
                <a:cs typeface="Optima"/>
              </a:defRPr>
            </a:pPr>
            <a:r>
              <a:rPr sz="2850" b="1" i="0">
                <a:solidFill>
                  <a:srgbClr val="C41230"/>
                </a:solidFill>
                <a:latin typeface="Optima"/>
                <a:ea typeface="Optima"/>
                <a:cs typeface="Optima"/>
              </a:rPr>
              <a:t>Evidence boundary: success, boundary, and failure cases</a:t>
            </a:r>
          </a:p>
        </p:txBody>
      </p:sp>
      <p:pic>
        <p:nvPicPr>
          <p:cNvPr id="160" name="图片 159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325100" y="14793972"/>
            <a:ext cx="3314700" cy="2492256"/>
          </a:xfrm>
          <a:prstGeom prst="rect">
            <a:avLst/>
          </a:prstGeom>
        </p:spPr>
      </p:pic>
      <p:sp>
        <p:nvSpPr>
          <p:cNvPr id="62" name="mini-label-0">
            <a:extLst>
              <a:ext uri="{FF2B5EF4-FFF2-40B4-BE49-F238E27FC236}">
                <a16:creationId xmlns:a16="http://schemas.microsoft.com/office/drawing/2014/main" id="{3400FB10-1A3C-4268-B1EF-7876DBB58A75}"/>
              </a:ext>
            </a:extLst>
          </p:cNvPr>
          <p:cNvSpPr>
            <a:spLocks noGrp="1"/>
          </p:cNvSpPr>
          <p:nvPr/>
        </p:nvSpPr>
        <p:spPr>
          <a:xfrm>
            <a:off x="10325100" y="17640300"/>
            <a:ext cx="3314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725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Smiling</a:t>
            </a:r>
          </a:p>
        </p:txBody>
      </p:sp>
      <p:pic>
        <p:nvPicPr>
          <p:cNvPr id="162" name="图片 161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3906500" y="14793972"/>
            <a:ext cx="3314700" cy="2492256"/>
          </a:xfrm>
          <a:prstGeom prst="rect">
            <a:avLst/>
          </a:prstGeom>
        </p:spPr>
      </p:pic>
      <p:sp>
        <p:nvSpPr>
          <p:cNvPr id="64" name="mini-label-1">
            <a:extLst>
              <a:ext uri="{FF2B5EF4-FFF2-40B4-BE49-F238E27FC236}">
                <a16:creationId xmlns:a16="http://schemas.microsoft.com/office/drawing/2014/main" id="{3CFEDF54-2C1E-44C1-94CF-0715865B4F6F}"/>
              </a:ext>
            </a:extLst>
          </p:cNvPr>
          <p:cNvSpPr>
            <a:spLocks noGrp="1"/>
          </p:cNvSpPr>
          <p:nvPr/>
        </p:nvSpPr>
        <p:spPr>
          <a:xfrm>
            <a:off x="13906500" y="17640300"/>
            <a:ext cx="3314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725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Bangs</a:t>
            </a:r>
          </a:p>
        </p:txBody>
      </p:sp>
      <p:pic>
        <p:nvPicPr>
          <p:cNvPr id="164" name="图片 163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7487900" y="14793972"/>
            <a:ext cx="3314700" cy="2492256"/>
          </a:xfrm>
          <a:prstGeom prst="rect">
            <a:avLst/>
          </a:prstGeom>
        </p:spPr>
      </p:pic>
      <p:sp>
        <p:nvSpPr>
          <p:cNvPr id="66" name="mini-label-2">
            <a:extLst>
              <a:ext uri="{FF2B5EF4-FFF2-40B4-BE49-F238E27FC236}">
                <a16:creationId xmlns:a16="http://schemas.microsoft.com/office/drawing/2014/main" id="{5ECAB89F-F125-4AF0-8A7D-EEC5F3B68CC8}"/>
              </a:ext>
            </a:extLst>
          </p:cNvPr>
          <p:cNvSpPr>
            <a:spLocks noGrp="1"/>
          </p:cNvSpPr>
          <p:nvPr/>
        </p:nvSpPr>
        <p:spPr>
          <a:xfrm>
            <a:off x="17487900" y="17640300"/>
            <a:ext cx="3314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725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Blond Hair</a:t>
            </a:r>
          </a:p>
        </p:txBody>
      </p:sp>
      <p:sp>
        <p:nvSpPr>
          <p:cNvPr id="67" name="qualitative-caption">
            <a:extLst>
              <a:ext uri="{FF2B5EF4-FFF2-40B4-BE49-F238E27FC236}">
                <a16:creationId xmlns:a16="http://schemas.microsoft.com/office/drawing/2014/main" id="{93BBD756-2CC1-4FF5-BDD3-2BEED4607287}"/>
              </a:ext>
            </a:extLst>
          </p:cNvPr>
          <p:cNvSpPr>
            <a:spLocks noGrp="1"/>
          </p:cNvSpPr>
          <p:nvPr/>
        </p:nvSpPr>
        <p:spPr>
          <a:xfrm>
            <a:off x="10306050" y="18097500"/>
            <a:ext cx="107823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Columns: static w=2, interval CFG, target-only, full CRH-CFG. Rows are selected by frozen rules: maximum-margin success, nearest evaluator boundary, minimum-margin failure.</a:t>
            </a:r>
          </a:p>
        </p:txBody>
      </p:sp>
      <p:sp>
        <p:nvSpPr>
          <p:cNvPr id="68" name="boundary-0">
            <a:extLst>
              <a:ext uri="{FF2B5EF4-FFF2-40B4-BE49-F238E27FC236}">
                <a16:creationId xmlns:a16="http://schemas.microsoft.com/office/drawing/2014/main" id="{9D89A732-96F7-4C9F-9AAF-8B8FC5814AA6}"/>
              </a:ext>
            </a:extLst>
          </p:cNvPr>
          <p:cNvSpPr>
            <a:spLocks noGrp="1"/>
          </p:cNvSpPr>
          <p:nvPr/>
        </p:nvSpPr>
        <p:spPr>
          <a:xfrm>
            <a:off x="10325100" y="19164300"/>
            <a:ext cx="10706100" cy="685800"/>
          </a:xfrm>
          <a:prstGeom prst="roundRect">
            <a:avLst>
              <a:gd name="adj" fmla="val 11111"/>
            </a:avLst>
          </a:prstGeom>
          <a:solidFill>
            <a:srgbClr val="FFF3DE"/>
          </a:solidFill>
          <a:ln w="19050">
            <a:solidFill>
              <a:srgbClr val="E7B768"/>
            </a:solidFill>
            <a:prstDash val="solid"/>
          </a:ln>
        </p:spPr>
      </p:sp>
      <p:sp>
        <p:nvSpPr>
          <p:cNvPr id="69" name="boundary-head-0">
            <a:extLst>
              <a:ext uri="{FF2B5EF4-FFF2-40B4-BE49-F238E27FC236}">
                <a16:creationId xmlns:a16="http://schemas.microsoft.com/office/drawing/2014/main" id="{08CBB7A9-C02F-40F3-85F6-72D3C829336B}"/>
              </a:ext>
            </a:extLst>
          </p:cNvPr>
          <p:cNvSpPr>
            <a:spLocks noGrp="1"/>
          </p:cNvSpPr>
          <p:nvPr/>
        </p:nvSpPr>
        <p:spPr>
          <a:xfrm>
            <a:off x="10515600" y="1931670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 i="0">
                <a:solidFill>
                  <a:srgbClr val="B768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76800"/>
                </a:solidFill>
                <a:latin typeface="Arial"/>
                <a:ea typeface="Arial"/>
                <a:cs typeface="Arial"/>
              </a:rPr>
              <a:t>Reachability</a:t>
            </a:r>
          </a:p>
        </p:txBody>
      </p:sp>
      <p:sp>
        <p:nvSpPr>
          <p:cNvPr id="70" name="boundary-body-0">
            <a:extLst>
              <a:ext uri="{FF2B5EF4-FFF2-40B4-BE49-F238E27FC236}">
                <a16:creationId xmlns:a16="http://schemas.microsoft.com/office/drawing/2014/main" id="{69DA98B9-9F61-403E-AC70-13BCE045A4E2}"/>
              </a:ext>
            </a:extLst>
          </p:cNvPr>
          <p:cNvSpPr>
            <a:spLocks noGrp="1"/>
          </p:cNvSpPr>
          <p:nvPr/>
        </p:nvSpPr>
        <p:spPr>
          <a:xfrm>
            <a:off x="12382500" y="19307175"/>
            <a:ext cx="8401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One scalar direction cannot make every constraint feasible.</a:t>
            </a:r>
          </a:p>
        </p:txBody>
      </p:sp>
      <p:sp>
        <p:nvSpPr>
          <p:cNvPr id="71" name="boundary-1">
            <a:extLst>
              <a:ext uri="{FF2B5EF4-FFF2-40B4-BE49-F238E27FC236}">
                <a16:creationId xmlns:a16="http://schemas.microsoft.com/office/drawing/2014/main" id="{EF351F20-B842-402C-8A9E-EDCAEF8DDA8C}"/>
              </a:ext>
            </a:extLst>
          </p:cNvPr>
          <p:cNvSpPr>
            <a:spLocks noGrp="1"/>
          </p:cNvSpPr>
          <p:nvPr/>
        </p:nvSpPr>
        <p:spPr>
          <a:xfrm>
            <a:off x="10325100" y="19983450"/>
            <a:ext cx="10706100" cy="68580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19050">
            <a:solidFill>
              <a:srgbClr val="D7DCE2"/>
            </a:solidFill>
            <a:prstDash val="solid"/>
          </a:ln>
        </p:spPr>
      </p:sp>
      <p:sp>
        <p:nvSpPr>
          <p:cNvPr id="72" name="boundary-head-1">
            <a:extLst>
              <a:ext uri="{FF2B5EF4-FFF2-40B4-BE49-F238E27FC236}">
                <a16:creationId xmlns:a16="http://schemas.microsoft.com/office/drawing/2014/main" id="{589DC68C-2FB2-4D0C-BD23-64C33F369BF4}"/>
              </a:ext>
            </a:extLst>
          </p:cNvPr>
          <p:cNvSpPr>
            <a:spLocks noGrp="1"/>
          </p:cNvSpPr>
          <p:nvPr/>
        </p:nvSpPr>
        <p:spPr>
          <a:xfrm>
            <a:off x="10515600" y="201358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Proxy activity</a:t>
            </a:r>
          </a:p>
        </p:txBody>
      </p:sp>
      <p:sp>
        <p:nvSpPr>
          <p:cNvPr id="73" name="boundary-body-1">
            <a:extLst>
              <a:ext uri="{FF2B5EF4-FFF2-40B4-BE49-F238E27FC236}">
                <a16:creationId xmlns:a16="http://schemas.microsoft.com/office/drawing/2014/main" id="{6DBDB128-C2EC-420B-85F6-3FE1C6CC57CE}"/>
              </a:ext>
            </a:extLst>
          </p:cNvPr>
          <p:cNvSpPr>
            <a:spLocks noGrp="1"/>
          </p:cNvSpPr>
          <p:nvPr/>
        </p:nvSpPr>
        <p:spPr>
          <a:xfrm>
            <a:off x="12382500" y="20126325"/>
            <a:ext cx="8401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selected preservation budget never changes the finite-set argmin.</a:t>
            </a:r>
          </a:p>
        </p:txBody>
      </p:sp>
      <p:sp>
        <p:nvSpPr>
          <p:cNvPr id="74" name="boundary-2">
            <a:extLst>
              <a:ext uri="{FF2B5EF4-FFF2-40B4-BE49-F238E27FC236}">
                <a16:creationId xmlns:a16="http://schemas.microsoft.com/office/drawing/2014/main" id="{6D610173-B9F6-48C9-A953-9FEF1FEA779E}"/>
              </a:ext>
            </a:extLst>
          </p:cNvPr>
          <p:cNvSpPr>
            <a:spLocks noGrp="1"/>
          </p:cNvSpPr>
          <p:nvPr/>
        </p:nvSpPr>
        <p:spPr>
          <a:xfrm>
            <a:off x="10325100" y="20802600"/>
            <a:ext cx="10706100" cy="68580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19050">
            <a:solidFill>
              <a:srgbClr val="D7DCE2"/>
            </a:solidFill>
            <a:prstDash val="solid"/>
          </a:ln>
        </p:spPr>
      </p:sp>
      <p:sp>
        <p:nvSpPr>
          <p:cNvPr id="75" name="boundary-head-2">
            <a:extLst>
              <a:ext uri="{FF2B5EF4-FFF2-40B4-BE49-F238E27FC236}">
                <a16:creationId xmlns:a16="http://schemas.microsoft.com/office/drawing/2014/main" id="{F912BE3D-6A25-483A-A916-012D1D5F04B1}"/>
              </a:ext>
            </a:extLst>
          </p:cNvPr>
          <p:cNvSpPr>
            <a:spLocks noGrp="1"/>
          </p:cNvSpPr>
          <p:nvPr/>
        </p:nvSpPr>
        <p:spPr>
          <a:xfrm>
            <a:off x="10515600" y="2095500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76" name="boundary-body-2">
            <a:extLst>
              <a:ext uri="{FF2B5EF4-FFF2-40B4-BE49-F238E27FC236}">
                <a16:creationId xmlns:a16="http://schemas.microsoft.com/office/drawing/2014/main" id="{E7DF1B14-647A-488B-ACB3-EDA0FF12FCBE}"/>
              </a:ext>
            </a:extLst>
          </p:cNvPr>
          <p:cNvSpPr>
            <a:spLocks noGrp="1"/>
          </p:cNvSpPr>
          <p:nvPr/>
        </p:nvSpPr>
        <p:spPr>
          <a:xfrm>
            <a:off x="12382500" y="20945475"/>
            <a:ext cx="8401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7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Endpoint scores from F_ctrl do not guarantee final outcomes under F_eval.</a:t>
            </a:r>
          </a:p>
        </p:txBody>
      </p:sp>
      <p:sp>
        <p:nvSpPr>
          <p:cNvPr id="77" name="dynamics-panel">
            <a:extLst>
              <a:ext uri="{FF2B5EF4-FFF2-40B4-BE49-F238E27FC236}">
                <a16:creationId xmlns:a16="http://schemas.microsoft.com/office/drawing/2014/main" id="{EF967123-F9BC-4A56-9104-C4454164C879}"/>
              </a:ext>
            </a:extLst>
          </p:cNvPr>
          <p:cNvSpPr>
            <a:spLocks noGrp="1"/>
          </p:cNvSpPr>
          <p:nvPr/>
        </p:nvSpPr>
        <p:spPr>
          <a:xfrm>
            <a:off x="457200" y="22288500"/>
            <a:ext cx="10096500" cy="6858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9050">
            <a:solidFill>
              <a:srgbClr val="D7DCE2"/>
            </a:solidFill>
            <a:prstDash val="solid"/>
          </a:ln>
        </p:spPr>
      </p:sp>
      <p:sp>
        <p:nvSpPr>
          <p:cNvPr id="78" name="dynamics-accent">
            <a:extLst>
              <a:ext uri="{FF2B5EF4-FFF2-40B4-BE49-F238E27FC236}">
                <a16:creationId xmlns:a16="http://schemas.microsoft.com/office/drawing/2014/main" id="{003CD458-7E74-47FF-859E-1D53C8787910}"/>
              </a:ext>
            </a:extLst>
          </p:cNvPr>
          <p:cNvSpPr>
            <a:spLocks noGrp="1"/>
          </p:cNvSpPr>
          <p:nvPr/>
        </p:nvSpPr>
        <p:spPr>
          <a:xfrm>
            <a:off x="457200" y="22288500"/>
            <a:ext cx="114300" cy="6858000"/>
          </a:xfrm>
          <a:prstGeom prst="rect">
            <a:avLst/>
          </a:prstGeom>
          <a:solidFill>
            <a:srgbClr val="1F6F8B"/>
          </a:solidFill>
          <a:ln w="19050">
            <a:solidFill>
              <a:srgbClr val="1F6F8B"/>
            </a:solidFill>
            <a:prstDash val="solid"/>
          </a:ln>
        </p:spPr>
      </p:sp>
      <p:sp>
        <p:nvSpPr>
          <p:cNvPr id="79" name="dynamics-title">
            <a:extLst>
              <a:ext uri="{FF2B5EF4-FFF2-40B4-BE49-F238E27FC236}">
                <a16:creationId xmlns:a16="http://schemas.microsoft.com/office/drawing/2014/main" id="{EBBB510C-3F01-4894-9A82-301421FA86E7}"/>
              </a:ext>
            </a:extLst>
          </p:cNvPr>
          <p:cNvSpPr>
            <a:spLocks noGrp="1"/>
          </p:cNvSpPr>
          <p:nvPr/>
        </p:nvSpPr>
        <p:spPr>
          <a:xfrm>
            <a:off x="781050" y="2251710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1F6F8B"/>
                </a:solidFill>
                <a:latin typeface="Optima"/>
                <a:ea typeface="Optima"/>
                <a:cs typeface="Optima"/>
              </a:defRPr>
            </a:pPr>
            <a:r>
              <a:rPr sz="2850" b="1" i="0">
                <a:solidFill>
                  <a:srgbClr val="1F6F8B"/>
                </a:solidFill>
                <a:latin typeface="Optima"/>
                <a:ea typeface="Optima"/>
                <a:cs typeface="Optima"/>
              </a:rPr>
              <a:t>Adaptation concentrates on difficult trajectories</a:t>
            </a:r>
          </a:p>
        </p:txBody>
      </p:sp>
      <p:pic>
        <p:nvPicPr>
          <p:cNvPr id="179" name="图片 178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762000" y="23214542"/>
            <a:ext cx="6191250" cy="4815417"/>
          </a:xfrm>
          <a:prstGeom prst="rect">
            <a:avLst/>
          </a:prstGeom>
        </p:spPr>
      </p:pic>
      <p:sp>
        <p:nvSpPr>
          <p:cNvPr id="81" name="dynamics-copy">
            <a:extLst>
              <a:ext uri="{FF2B5EF4-FFF2-40B4-BE49-F238E27FC236}">
                <a16:creationId xmlns:a16="http://schemas.microsoft.com/office/drawing/2014/main" id="{DDE9AE4E-9568-47EB-9BE2-353E2037F37D}"/>
              </a:ext>
            </a:extLst>
          </p:cNvPr>
          <p:cNvSpPr>
            <a:spLocks noGrp="1"/>
          </p:cNvSpPr>
          <p:nvPr/>
        </p:nvSpPr>
        <p:spPr>
          <a:xfrm>
            <a:off x="7048500" y="23183850"/>
            <a:ext cx="3143250" cy="457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0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At the last saved decision (s=0.9):</a:t>
            </a:r>
          </a:p>
          <a:p>
            <a:endParaRPr sz="1875" b="0" i="0">
              <a:solidFill>
                <a:srgbClr val="17223B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Smiling   mean w 2.017 | fallback 5.7%</a:t>
            </a:r>
          </a:p>
          <a:p>
            <a:pPr algn="l">
              <a:defRPr sz="1875" b="0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Bangs     mean w 2.085 | fallback 17.6%</a:t>
            </a:r>
          </a:p>
          <a:p>
            <a:pPr algn="l">
              <a:defRPr sz="1875" b="0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Blond     mean w 2.186 | fallback 1.6%</a:t>
            </a:r>
          </a:p>
          <a:p>
            <a:endParaRPr sz="1875" b="0" i="0">
              <a:solidFill>
                <a:srgbClr val="17223B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Median and IQR remain w=2 at every saved decision. CRH-CFG mainly corrects a minority of hard samples.</a:t>
            </a:r>
          </a:p>
        </p:txBody>
      </p:sp>
      <p:sp>
        <p:nvSpPr>
          <p:cNvPr id="82" name="evidence-panel">
            <a:extLst>
              <a:ext uri="{FF2B5EF4-FFF2-40B4-BE49-F238E27FC236}">
                <a16:creationId xmlns:a16="http://schemas.microsoft.com/office/drawing/2014/main" id="{11CFA0D4-EDF0-45E1-9E97-244B707E6929}"/>
              </a:ext>
            </a:extLst>
          </p:cNvPr>
          <p:cNvSpPr>
            <a:spLocks noGrp="1"/>
          </p:cNvSpPr>
          <p:nvPr/>
        </p:nvSpPr>
        <p:spPr>
          <a:xfrm>
            <a:off x="10858500" y="22288500"/>
            <a:ext cx="10629900" cy="6858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9050">
            <a:solidFill>
              <a:srgbClr val="D7DCE2"/>
            </a:solidFill>
            <a:prstDash val="solid"/>
          </a:ln>
        </p:spPr>
      </p:sp>
      <p:sp>
        <p:nvSpPr>
          <p:cNvPr id="83" name="evidence-accent">
            <a:extLst>
              <a:ext uri="{FF2B5EF4-FFF2-40B4-BE49-F238E27FC236}">
                <a16:creationId xmlns:a16="http://schemas.microsoft.com/office/drawing/2014/main" id="{F54DA2ED-1B5A-4898-A067-44B2B2510EE1}"/>
              </a:ext>
            </a:extLst>
          </p:cNvPr>
          <p:cNvSpPr>
            <a:spLocks noGrp="1"/>
          </p:cNvSpPr>
          <p:nvPr/>
        </p:nvSpPr>
        <p:spPr>
          <a:xfrm>
            <a:off x="10858500" y="22288500"/>
            <a:ext cx="114300" cy="6858000"/>
          </a:xfrm>
          <a:prstGeom prst="rect">
            <a:avLst/>
          </a:prstGeom>
          <a:solidFill>
            <a:srgbClr val="B76800"/>
          </a:solidFill>
          <a:ln w="19050">
            <a:solidFill>
              <a:srgbClr val="B76800"/>
            </a:solidFill>
            <a:prstDash val="solid"/>
          </a:ln>
        </p:spPr>
      </p:sp>
      <p:sp>
        <p:nvSpPr>
          <p:cNvPr id="84" name="evidence-title">
            <a:extLst>
              <a:ext uri="{FF2B5EF4-FFF2-40B4-BE49-F238E27FC236}">
                <a16:creationId xmlns:a16="http://schemas.microsoft.com/office/drawing/2014/main" id="{2D77E684-3497-4CEC-9410-45DFA57F05DC}"/>
              </a:ext>
            </a:extLst>
          </p:cNvPr>
          <p:cNvSpPr>
            <a:spLocks noGrp="1"/>
          </p:cNvSpPr>
          <p:nvPr/>
        </p:nvSpPr>
        <p:spPr>
          <a:xfrm>
            <a:off x="11182350" y="22517100"/>
            <a:ext cx="1005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B76800"/>
                </a:solidFill>
                <a:latin typeface="Optima"/>
                <a:ea typeface="Optima"/>
                <a:cs typeface="Optima"/>
              </a:defRPr>
            </a:pPr>
            <a:r>
              <a:rPr sz="2850" b="1" i="0">
                <a:solidFill>
                  <a:srgbClr val="B76800"/>
                </a:solidFill>
                <a:latin typeface="Optima"/>
                <a:ea typeface="Optima"/>
                <a:cs typeface="Optima"/>
              </a:rPr>
              <a:t>What the ablations and failures teach us</a:t>
            </a:r>
          </a:p>
        </p:txBody>
      </p:sp>
      <p:sp>
        <p:nvSpPr>
          <p:cNvPr id="85" name="evidence-dot-0">
            <a:extLst>
              <a:ext uri="{FF2B5EF4-FFF2-40B4-BE49-F238E27FC236}">
                <a16:creationId xmlns:a16="http://schemas.microsoft.com/office/drawing/2014/main" id="{51962AA1-D38E-460A-969A-F8AA0EC84967}"/>
              </a:ext>
            </a:extLst>
          </p:cNvPr>
          <p:cNvSpPr>
            <a:spLocks noGrp="1"/>
          </p:cNvSpPr>
          <p:nvPr/>
        </p:nvSpPr>
        <p:spPr>
          <a:xfrm>
            <a:off x="11239500" y="23145750"/>
            <a:ext cx="266700" cy="266700"/>
          </a:xfrm>
          <a:prstGeom prst="ellipse">
            <a:avLst/>
          </a:prstGeom>
          <a:solidFill>
            <a:srgbClr val="0D7C66"/>
          </a:solidFill>
          <a:ln w="0">
            <a:noFill/>
            <a:prstDash val="solid"/>
          </a:ln>
        </p:spPr>
      </p:sp>
      <p:sp>
        <p:nvSpPr>
          <p:cNvPr id="86" name="evidence-head-0">
            <a:extLst>
              <a:ext uri="{FF2B5EF4-FFF2-40B4-BE49-F238E27FC236}">
                <a16:creationId xmlns:a16="http://schemas.microsoft.com/office/drawing/2014/main" id="{C343A284-E121-44C5-972F-5B3E321A1F3A}"/>
              </a:ext>
            </a:extLst>
          </p:cNvPr>
          <p:cNvSpPr>
            <a:spLocks noGrp="1"/>
          </p:cNvSpPr>
          <p:nvPr/>
        </p:nvSpPr>
        <p:spPr>
          <a:xfrm>
            <a:off x="11677650" y="23088600"/>
            <a:ext cx="895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1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Reliability gate is essential</a:t>
            </a:r>
          </a:p>
        </p:txBody>
      </p:sp>
      <p:sp>
        <p:nvSpPr>
          <p:cNvPr id="87" name="evidence-body-0">
            <a:extLst>
              <a:ext uri="{FF2B5EF4-FFF2-40B4-BE49-F238E27FC236}">
                <a16:creationId xmlns:a16="http://schemas.microsoft.com/office/drawing/2014/main" id="{A5A6B553-02A1-4AC1-BDC7-BB9BF2FC52BA}"/>
              </a:ext>
            </a:extLst>
          </p:cNvPr>
          <p:cNvSpPr>
            <a:spLocks noGrp="1"/>
          </p:cNvSpPr>
          <p:nvPr/>
        </p:nvSpPr>
        <p:spPr>
          <a:xfrm>
            <a:off x="11677650" y="23488650"/>
            <a:ext cx="8953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Removing it drops reduced-protocol success from 98.83% to 91.54%.</a:t>
            </a:r>
          </a:p>
        </p:txBody>
      </p:sp>
      <p:sp>
        <p:nvSpPr>
          <p:cNvPr id="88" name="evidence-dot-1">
            <a:extLst>
              <a:ext uri="{FF2B5EF4-FFF2-40B4-BE49-F238E27FC236}">
                <a16:creationId xmlns:a16="http://schemas.microsoft.com/office/drawing/2014/main" id="{9F6987CB-E271-4F96-A4C5-262D2421FFA7}"/>
              </a:ext>
            </a:extLst>
          </p:cNvPr>
          <p:cNvSpPr>
            <a:spLocks noGrp="1"/>
          </p:cNvSpPr>
          <p:nvPr/>
        </p:nvSpPr>
        <p:spPr>
          <a:xfrm>
            <a:off x="11239500" y="24345900"/>
            <a:ext cx="266700" cy="266700"/>
          </a:xfrm>
          <a:prstGeom prst="ellipse">
            <a:avLst/>
          </a:prstGeom>
          <a:solidFill>
            <a:srgbClr val="B76800"/>
          </a:solidFill>
          <a:ln w="0">
            <a:noFill/>
            <a:prstDash val="solid"/>
          </a:ln>
        </p:spPr>
      </p:sp>
      <p:sp>
        <p:nvSpPr>
          <p:cNvPr id="89" name="evidence-head-1">
            <a:extLst>
              <a:ext uri="{FF2B5EF4-FFF2-40B4-BE49-F238E27FC236}">
                <a16:creationId xmlns:a16="http://schemas.microsoft.com/office/drawing/2014/main" id="{1F492D82-B593-4DC3-841C-BA1595BC9320}"/>
              </a:ext>
            </a:extLst>
          </p:cNvPr>
          <p:cNvSpPr>
            <a:spLocks noGrp="1"/>
          </p:cNvSpPr>
          <p:nvPr/>
        </p:nvSpPr>
        <p:spPr>
          <a:xfrm>
            <a:off x="11677650" y="24288750"/>
            <a:ext cx="895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1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Preservation budget is non-binding</a:t>
            </a:r>
          </a:p>
        </p:txBody>
      </p:sp>
      <p:sp>
        <p:nvSpPr>
          <p:cNvPr id="90" name="evidence-body-1">
            <a:extLst>
              <a:ext uri="{FF2B5EF4-FFF2-40B4-BE49-F238E27FC236}">
                <a16:creationId xmlns:a16="http://schemas.microsoft.com/office/drawing/2014/main" id="{FA2AEA28-EB6D-4F22-926B-E44C057A0507}"/>
              </a:ext>
            </a:extLst>
          </p:cNvPr>
          <p:cNvSpPr>
            <a:spLocks noGrp="1"/>
          </p:cNvSpPr>
          <p:nvPr/>
        </p:nvSpPr>
        <p:spPr>
          <a:xfrm>
            <a:off x="11677650" y="24688800"/>
            <a:ext cx="8953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Adding the preservation term changes no reported reduced-controller value.</a:t>
            </a:r>
          </a:p>
        </p:txBody>
      </p:sp>
      <p:sp>
        <p:nvSpPr>
          <p:cNvPr id="91" name="evidence-dot-2">
            <a:extLst>
              <a:ext uri="{FF2B5EF4-FFF2-40B4-BE49-F238E27FC236}">
                <a16:creationId xmlns:a16="http://schemas.microsoft.com/office/drawing/2014/main" id="{8B60CC5D-3E13-4E7E-BC58-FC0549DFBDBA}"/>
              </a:ext>
            </a:extLst>
          </p:cNvPr>
          <p:cNvSpPr>
            <a:spLocks noGrp="1"/>
          </p:cNvSpPr>
          <p:nvPr/>
        </p:nvSpPr>
        <p:spPr>
          <a:xfrm>
            <a:off x="11239500" y="25546050"/>
            <a:ext cx="266700" cy="266700"/>
          </a:xfrm>
          <a:prstGeom prst="ellipse">
            <a:avLst/>
          </a:prstGeom>
          <a:solidFill>
            <a:srgbClr val="B76800"/>
          </a:solidFill>
          <a:ln w="0">
            <a:noFill/>
            <a:prstDash val="solid"/>
          </a:ln>
        </p:spPr>
      </p:sp>
      <p:sp>
        <p:nvSpPr>
          <p:cNvPr id="92" name="evidence-head-2">
            <a:extLst>
              <a:ext uri="{FF2B5EF4-FFF2-40B4-BE49-F238E27FC236}">
                <a16:creationId xmlns:a16="http://schemas.microsoft.com/office/drawing/2014/main" id="{2B73C3A3-FEBA-4A27-BE94-E27592821637}"/>
              </a:ext>
            </a:extLst>
          </p:cNvPr>
          <p:cNvSpPr>
            <a:spLocks noGrp="1"/>
          </p:cNvSpPr>
          <p:nvPr/>
        </p:nvSpPr>
        <p:spPr>
          <a:xfrm>
            <a:off x="11677650" y="25488900"/>
            <a:ext cx="895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1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Extra scale saturates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evidence-body-2">
                <a:extLst>
                  <a:ext uri="{FF2B5EF4-FFF2-40B4-BE49-F238E27FC236}">
                    <a16:creationId xmlns:a16="http://schemas.microsoft.com/office/drawing/2014/main" id="{9AB4515F-1C5D-40E8-A43F-31A8333251A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677650" y="25888950"/>
                <a:ext cx="8953500" cy="628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t"/>
              <a:lstStyle/>
              <a:p>
                <a:pPr algn="l">
                  <a:defRPr sz="1800" b="0" i="0">
                    <a:solidFill>
                      <a:srgbClr val="52606D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SG" sz="1800" b="0" i="1" dirty="0" smtClean="0">
                            <a:solidFill>
                              <a:srgbClr val="52606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SG" sz="1800" b="0" i="1" dirty="0" smtClean="0">
                            <a:solidFill>
                              <a:srgbClr val="52606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𝑤</m:t>
                        </m:r>
                      </m:e>
                      <m:sub>
                        <m:r>
                          <a:rPr lang="en-SG" sz="1800" b="0" i="1" dirty="0" smtClean="0">
                            <a:solidFill>
                              <a:srgbClr val="52606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sz="1800" b="0" i="0" dirty="0">
                    <a:solidFill>
                      <a:srgbClr val="52606D"/>
                    </a:solidFill>
                    <a:latin typeface="Arial"/>
                    <a:ea typeface="Arial"/>
                    <a:cs typeface="Arial"/>
                  </a:rPr>
                  <a:t> 2 -&gt; 3 adds +0.26 pp; 3 -&gt; 4 adds 0.00 pp.</a:t>
                </a:r>
              </a:p>
            </p:txBody>
          </p:sp>
        </mc:Choice>
        <mc:Fallback xmlns="">
          <p:sp>
            <p:nvSpPr>
              <p:cNvPr id="93" name="evidence-body-2">
                <a:extLst>
                  <a:ext uri="{FF2B5EF4-FFF2-40B4-BE49-F238E27FC236}">
                    <a16:creationId xmlns:a16="http://schemas.microsoft.com/office/drawing/2014/main" id="{9AB4515F-1C5D-40E8-A43F-31A8333251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7650" y="25888950"/>
                <a:ext cx="8953500" cy="628650"/>
              </a:xfrm>
              <a:prstGeom prst="rect">
                <a:avLst/>
              </a:prstGeom>
              <a:blipFill>
                <a:blip r:embed="rId12"/>
                <a:stretch>
                  <a:fillRect l="-567" t="-1200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evidence-dot-3">
            <a:extLst>
              <a:ext uri="{FF2B5EF4-FFF2-40B4-BE49-F238E27FC236}">
                <a16:creationId xmlns:a16="http://schemas.microsoft.com/office/drawing/2014/main" id="{4D583FFF-CECD-45BE-86CE-92F60278A3E8}"/>
              </a:ext>
            </a:extLst>
          </p:cNvPr>
          <p:cNvSpPr>
            <a:spLocks noGrp="1"/>
          </p:cNvSpPr>
          <p:nvPr/>
        </p:nvSpPr>
        <p:spPr>
          <a:xfrm>
            <a:off x="11239500" y="26746200"/>
            <a:ext cx="266700" cy="266700"/>
          </a:xfrm>
          <a:prstGeom prst="ellipse">
            <a:avLst/>
          </a:prstGeom>
          <a:solidFill>
            <a:srgbClr val="B76800"/>
          </a:solidFill>
          <a:ln w="0">
            <a:noFill/>
            <a:prstDash val="solid"/>
          </a:ln>
        </p:spPr>
      </p:sp>
      <p:sp>
        <p:nvSpPr>
          <p:cNvPr id="95" name="evidence-head-3">
            <a:extLst>
              <a:ext uri="{FF2B5EF4-FFF2-40B4-BE49-F238E27FC236}">
                <a16:creationId xmlns:a16="http://schemas.microsoft.com/office/drawing/2014/main" id="{4590CF6F-9F59-445D-AA6A-E92DBC11B00A}"/>
              </a:ext>
            </a:extLst>
          </p:cNvPr>
          <p:cNvSpPr>
            <a:spLocks noGrp="1"/>
          </p:cNvSpPr>
          <p:nvPr/>
        </p:nvSpPr>
        <p:spPr>
          <a:xfrm>
            <a:off x="11677650" y="26689050"/>
            <a:ext cx="895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1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Scalar authority is limited</a:t>
            </a:r>
          </a:p>
        </p:txBody>
      </p:sp>
      <p:sp>
        <p:nvSpPr>
          <p:cNvPr id="96" name="evidence-body-3">
            <a:extLst>
              <a:ext uri="{FF2B5EF4-FFF2-40B4-BE49-F238E27FC236}">
                <a16:creationId xmlns:a16="http://schemas.microsoft.com/office/drawing/2014/main" id="{0A96837F-9C26-4E05-A7C6-66C8E47A51CD}"/>
              </a:ext>
            </a:extLst>
          </p:cNvPr>
          <p:cNvSpPr>
            <a:spLocks noGrp="1"/>
          </p:cNvSpPr>
          <p:nvPr/>
        </p:nvSpPr>
        <p:spPr>
          <a:xfrm>
            <a:off x="11677650" y="27089100"/>
            <a:ext cx="8953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Selected failures reach high fallback or w=4 without crossing the evaluator boundary.</a:t>
            </a:r>
          </a:p>
        </p:txBody>
      </p:sp>
      <p:sp>
        <p:nvSpPr>
          <p:cNvPr id="97" name="evidence-conclusion">
            <a:extLst>
              <a:ext uri="{FF2B5EF4-FFF2-40B4-BE49-F238E27FC236}">
                <a16:creationId xmlns:a16="http://schemas.microsoft.com/office/drawing/2014/main" id="{3B7AB0D7-6A64-4D1F-A8E3-A73FD8433B08}"/>
              </a:ext>
            </a:extLst>
          </p:cNvPr>
          <p:cNvSpPr>
            <a:spLocks noGrp="1"/>
          </p:cNvSpPr>
          <p:nvPr/>
        </p:nvSpPr>
        <p:spPr>
          <a:xfrm>
            <a:off x="11258550" y="28041600"/>
            <a:ext cx="9791700" cy="762000"/>
          </a:xfrm>
          <a:prstGeom prst="roundRect">
            <a:avLst>
              <a:gd name="adj" fmla="val 10000"/>
            </a:avLst>
          </a:prstGeom>
          <a:solidFill>
            <a:srgbClr val="E8F5F1"/>
          </a:solidFill>
          <a:ln w="19050">
            <a:solidFill>
              <a:srgbClr val="8CCDBB"/>
            </a:solidFill>
            <a:prstDash val="solid"/>
          </a:ln>
        </p:spPr>
      </p:sp>
      <p:sp>
        <p:nvSpPr>
          <p:cNvPr id="98" name="evidence-conclusion-copy">
            <a:extLst>
              <a:ext uri="{FF2B5EF4-FFF2-40B4-BE49-F238E27FC236}">
                <a16:creationId xmlns:a16="http://schemas.microsoft.com/office/drawing/2014/main" id="{D3926A62-3330-4E75-8427-C939B1EBF150}"/>
              </a:ext>
            </a:extLst>
          </p:cNvPr>
          <p:cNvSpPr>
            <a:spLocks noGrp="1"/>
          </p:cNvSpPr>
          <p:nvPr/>
        </p:nvSpPr>
        <p:spPr>
          <a:xfrm>
            <a:off x="11468100" y="28194000"/>
            <a:ext cx="937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950" b="1" i="0">
                <a:solidFill>
                  <a:srgbClr val="0D7C6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D7C66"/>
                </a:solidFill>
                <a:latin typeface="Arial"/>
                <a:ea typeface="Arial"/>
                <a:cs typeface="Arial"/>
              </a:rPr>
              <a:t>Supported: low-overhead adaptive correction. Not supported: joint adherence-preservation-quality improvement.</a:t>
            </a:r>
          </a:p>
        </p:txBody>
      </p:sp>
      <p:sp>
        <p:nvSpPr>
          <p:cNvPr id="99" name="footer-rule">
            <a:extLst>
              <a:ext uri="{FF2B5EF4-FFF2-40B4-BE49-F238E27FC236}">
                <a16:creationId xmlns:a16="http://schemas.microsoft.com/office/drawing/2014/main" id="{9F0EEB95-E16E-41B9-A932-3934A0C2535D}"/>
              </a:ext>
            </a:extLst>
          </p:cNvPr>
          <p:cNvSpPr>
            <a:spLocks noGrp="1"/>
          </p:cNvSpPr>
          <p:nvPr/>
        </p:nvSpPr>
        <p:spPr>
          <a:xfrm>
            <a:off x="457200" y="29527500"/>
            <a:ext cx="21031200" cy="38100"/>
          </a:xfrm>
          <a:prstGeom prst="rect">
            <a:avLst/>
          </a:prstGeom>
          <a:solidFill>
            <a:srgbClr val="C41230"/>
          </a:solidFill>
          <a:ln w="19050">
            <a:solidFill>
              <a:srgbClr val="C41230"/>
            </a:solidFill>
            <a:prstDash val="solid"/>
          </a:ln>
        </p:spPr>
      </p:sp>
      <p:sp>
        <p:nvSpPr>
          <p:cNvPr id="100" name="footer-repro-title">
            <a:extLst>
              <a:ext uri="{FF2B5EF4-FFF2-40B4-BE49-F238E27FC236}">
                <a16:creationId xmlns:a16="http://schemas.microsoft.com/office/drawing/2014/main" id="{08286707-11D5-405D-A5A6-DE76B99E3F59}"/>
              </a:ext>
            </a:extLst>
          </p:cNvPr>
          <p:cNvSpPr>
            <a:spLocks noGrp="1"/>
          </p:cNvSpPr>
          <p:nvPr/>
        </p:nvSpPr>
        <p:spPr>
          <a:xfrm>
            <a:off x="457200" y="29813250"/>
            <a:ext cx="590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 i="0">
                <a:solidFill>
                  <a:srgbClr val="C41230"/>
                </a:solidFill>
                <a:latin typeface="Optima"/>
                <a:ea typeface="Optima"/>
                <a:cs typeface="Optima"/>
              </a:defRPr>
            </a:pPr>
            <a:r>
              <a:rPr sz="2100" b="1" i="0">
                <a:solidFill>
                  <a:srgbClr val="C41230"/>
                </a:solidFill>
                <a:latin typeface="Optima"/>
                <a:ea typeface="Optima"/>
                <a:cs typeface="Optima"/>
              </a:rPr>
              <a:t>Reproducibility &amp; compute</a:t>
            </a:r>
          </a:p>
        </p:txBody>
      </p:sp>
      <p:sp>
        <p:nvSpPr>
          <p:cNvPr id="101" name="footer-repro-copy">
            <a:extLst>
              <a:ext uri="{FF2B5EF4-FFF2-40B4-BE49-F238E27FC236}">
                <a16:creationId xmlns:a16="http://schemas.microsoft.com/office/drawing/2014/main" id="{04949516-1BAD-43ED-B677-81CB5B342C02}"/>
              </a:ext>
            </a:extLst>
          </p:cNvPr>
          <p:cNvSpPr>
            <a:spLocks noGrp="1"/>
          </p:cNvSpPr>
          <p:nvPr/>
        </p:nvSpPr>
        <p:spPr>
          <a:xfrm>
            <a:off x="457200" y="30308550"/>
            <a:ext cx="6667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 targets x 1,000 paired seeds | frozen checkpoint/split | 19 tests</a:t>
            </a:r>
          </a:p>
          <a:p>
            <a:pPr algn="l">
              <a:defRPr sz="16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HW4: 3.824 measured L40S GPU-h | HW3 training: 2.688 estimated | qualified total: 6.512 GPU-h</a:t>
            </a:r>
          </a:p>
        </p:txBody>
      </p:sp>
      <p:sp>
        <p:nvSpPr>
          <p:cNvPr id="102" name="footer-refs-title">
            <a:extLst>
              <a:ext uri="{FF2B5EF4-FFF2-40B4-BE49-F238E27FC236}">
                <a16:creationId xmlns:a16="http://schemas.microsoft.com/office/drawing/2014/main" id="{F813767D-EC92-40B8-A7B3-A1161E72571E}"/>
              </a:ext>
            </a:extLst>
          </p:cNvPr>
          <p:cNvSpPr>
            <a:spLocks noGrp="1"/>
          </p:cNvSpPr>
          <p:nvPr/>
        </p:nvSpPr>
        <p:spPr>
          <a:xfrm>
            <a:off x="7524750" y="2981325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 i="0">
                <a:solidFill>
                  <a:srgbClr val="C41230"/>
                </a:solidFill>
                <a:latin typeface="Optima"/>
                <a:ea typeface="Optima"/>
                <a:cs typeface="Optima"/>
              </a:defRPr>
            </a:pPr>
            <a:r>
              <a:rPr sz="2100" b="1" i="0">
                <a:solidFill>
                  <a:srgbClr val="C41230"/>
                </a:solidFill>
                <a:latin typeface="Optima"/>
                <a:ea typeface="Optima"/>
                <a:cs typeface="Optima"/>
              </a:rPr>
              <a:t>Selected references</a:t>
            </a:r>
          </a:p>
        </p:txBody>
      </p:sp>
      <p:sp>
        <p:nvSpPr>
          <p:cNvPr id="103" name="footer-refs-copy">
            <a:extLst>
              <a:ext uri="{FF2B5EF4-FFF2-40B4-BE49-F238E27FC236}">
                <a16:creationId xmlns:a16="http://schemas.microsoft.com/office/drawing/2014/main" id="{CA31342C-6BE4-4D73-9322-2F748C01DAFD}"/>
              </a:ext>
            </a:extLst>
          </p:cNvPr>
          <p:cNvSpPr>
            <a:spLocks noGrp="1"/>
          </p:cNvSpPr>
          <p:nvPr/>
        </p:nvSpPr>
        <p:spPr>
          <a:xfrm>
            <a:off x="7524750" y="30308550"/>
            <a:ext cx="6953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Lipman et al., Flow Matching, 2023 | Ho &amp; Salimans, CFG, 2022 | Guided Flows, 2023</a:t>
            </a:r>
          </a:p>
          <a:p>
            <a:pPr algn="l"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Limited Guidance Interval / CADS, 2024 | Online feedback, 2025 | CFG++ / Rectified-CFG++, 2024-25</a:t>
            </a:r>
          </a:p>
        </p:txBody>
      </p:sp>
      <p:sp>
        <p:nvSpPr>
          <p:cNvPr id="104" name="footer-disclosure-title">
            <a:extLst>
              <a:ext uri="{FF2B5EF4-FFF2-40B4-BE49-F238E27FC236}">
                <a16:creationId xmlns:a16="http://schemas.microsoft.com/office/drawing/2014/main" id="{20680EB1-B252-44B0-BF91-572F19A683AC}"/>
              </a:ext>
            </a:extLst>
          </p:cNvPr>
          <p:cNvSpPr>
            <a:spLocks noGrp="1"/>
          </p:cNvSpPr>
          <p:nvPr/>
        </p:nvSpPr>
        <p:spPr>
          <a:xfrm>
            <a:off x="14820900" y="2981325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 i="0">
                <a:solidFill>
                  <a:srgbClr val="C41230"/>
                </a:solidFill>
                <a:latin typeface="Optima"/>
                <a:ea typeface="Optima"/>
                <a:cs typeface="Optima"/>
              </a:defRPr>
            </a:pPr>
            <a:r>
              <a:rPr sz="2100" b="1" i="0">
                <a:solidFill>
                  <a:srgbClr val="C41230"/>
                </a:solidFill>
                <a:latin typeface="Optima"/>
                <a:ea typeface="Optima"/>
                <a:cs typeface="Optima"/>
              </a:rPr>
              <a:t>Resources &amp; disclosure</a:t>
            </a:r>
          </a:p>
        </p:txBody>
      </p:sp>
      <p:sp>
        <p:nvSpPr>
          <p:cNvPr id="105" name="footer-disclosure-copy">
            <a:extLst>
              <a:ext uri="{FF2B5EF4-FFF2-40B4-BE49-F238E27FC236}">
                <a16:creationId xmlns:a16="http://schemas.microsoft.com/office/drawing/2014/main" id="{03123308-876E-4FD2-A01D-C8D3E0E3B4EC}"/>
              </a:ext>
            </a:extLst>
          </p:cNvPr>
          <p:cNvSpPr>
            <a:spLocks noGrp="1"/>
          </p:cNvSpPr>
          <p:nvPr/>
        </p:nvSpPr>
        <p:spPr>
          <a:xfrm>
            <a:off x="14820900" y="30308550"/>
            <a:ext cx="6191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Built independently from the course starter repository and cited papers. OpenAI Codex assisted implementation, analysis, writing, and poster production; all displayed numbers were checked against retained artifacts.</a:t>
            </a:r>
          </a:p>
        </p:txBody>
      </p:sp>
      <p:sp>
        <p:nvSpPr>
          <p:cNvPr id="106" name="footer-url">
            <a:extLst>
              <a:ext uri="{FF2B5EF4-FFF2-40B4-BE49-F238E27FC236}">
                <a16:creationId xmlns:a16="http://schemas.microsoft.com/office/drawing/2014/main" id="{D649C918-A67A-4184-8395-C85C7E4FA375}"/>
              </a:ext>
            </a:extLst>
          </p:cNvPr>
          <p:cNvSpPr>
            <a:spLocks noGrp="1"/>
          </p:cNvSpPr>
          <p:nvPr/>
        </p:nvSpPr>
        <p:spPr>
          <a:xfrm>
            <a:off x="457200" y="32004000"/>
            <a:ext cx="21031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650" b="1" i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223B"/>
                </a:solidFill>
                <a:latin typeface="Arial"/>
                <a:ea typeface="Arial"/>
                <a:cs typeface="Arial"/>
              </a:rPr>
              <a:t>CMU 10-799 Spring 2026 | Final Poster Presentation</a:t>
            </a:r>
          </a:p>
        </p:txBody>
      </p:sp>
    </p:spTree>
    <p:extLst>
      <p:ext uri="{BB962C8B-B14F-4D97-AF65-F5344CB8AC3E}">
        <p14:creationId xmlns:p14="http://schemas.microsoft.com/office/powerpoint/2010/main" val="2943234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691</Words>
  <Application>Microsoft Macintosh PowerPoint</Application>
  <DocSecurity>0</DocSecurity>
  <PresentationFormat>自定义</PresentationFormat>
  <Paragraphs>82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Optima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Woody Chen</cp:lastModifiedBy>
  <cp:revision>4</cp:revision>
  <dcterms:created xsi:type="dcterms:W3CDTF">2026-07-14T12:59:12Z</dcterms:created>
  <dcterms:modified xsi:type="dcterms:W3CDTF">2026-07-15T01:37:22Z</dcterms:modified>
</cp:coreProperties>
</file>