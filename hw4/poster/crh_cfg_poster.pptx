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ec41c74cd741e9" /><Relationship Type="http://schemas.openxmlformats.org/officeDocument/2006/relationships/extended-properties" Target="/docProps/app.xml" Id="R3426ce9c01af4b04" /><Relationship Type="http://schemas.openxmlformats.org/officeDocument/2006/relationships/officeDocument" Target="/ppt/presentation.xml" Id="Rc01e8a7a1b454c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89f3ec2a3d4d1f"/>
  </p:sldMasterIdLst>
  <p:notesMasterIdLst>
    <p:notesMasterId xmlns:r="http://schemas.openxmlformats.org/officeDocument/2006/relationships" r:id="R9aeb777939e74e55"/>
  </p:notesMasterIdLst>
  <p:sldIdLst>
    <p:sldId xmlns:r="http://schemas.openxmlformats.org/officeDocument/2006/relationships" id="256" r:id="R59644fa215994e12"/>
  </p:sldIdLst>
  <p:sldSz cx="219456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66de5860bb4ffe" /><Relationship Type="http://schemas.openxmlformats.org/officeDocument/2006/relationships/slideMaster" Target="/ppt/slideMasters/slideMaster1.xml" Id="R8889f3ec2a3d4d1f" /><Relationship Type="http://schemas.openxmlformats.org/officeDocument/2006/relationships/notesMaster" Target="/ppt/notesMasters/notesMaster1.xml" Id="R9aeb777939e74e55" /><Relationship Type="http://schemas.openxmlformats.org/officeDocument/2006/relationships/presProps" Target="/ppt/presProps.xml" Id="R44c90400f6954fad" /><Relationship Type="http://schemas.openxmlformats.org/officeDocument/2006/relationships/viewProps" Target="/ppt/viewProps.xml" Id="R79aa1f450c1b4988" /><Relationship Type="http://schemas.openxmlformats.org/officeDocument/2006/relationships/tableStyles" Target="/ppt/tableStyles.xml" Id="R3a241d216f834fec" /><Relationship Type="http://schemas.openxmlformats.org/officeDocument/2006/relationships/slide" Target="/ppt/slides/slide1.xml" Id="R59644fa215994e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4b4b9c183c4d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f951f426ed4453" /><Relationship Type="http://schemas.openxmlformats.org/officeDocument/2006/relationships/notesMaster" Target="/ppt/notesMasters/notesMaster1.xml" Id="R7c19c0c330a64d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5ac1be708940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feec261860408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82d2fb62204a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bc0bc00c0748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0ab256d3604ac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f9046d6b3b48b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ba6bf374e3407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a63a41f1ae49e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3f40df797d401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a3325373c241e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d267bd1434a4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86FD92-6A8A-4A04-8150-2E2DCA2EF1D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645920" y="5387342"/>
            <a:ext cx="18653760" cy="1146048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144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FBAA848-E21B-48C3-86E9-A33F051A43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743200" y="17289782"/>
            <a:ext cx="16459200" cy="7947658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010A3E3-F8F5-4B88-B2F9-9658A23DC4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911DC2B-3F20-4DEC-BE66-FC7EE76260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B07644-1434-495D-966A-D9A3D01FE2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B99798-F926-410B-A9D8-F4477B6E56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7245A5-3AD2-4D15-83CF-657427D5ED8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0EEF040-7720-4EEB-AF4B-E88CD1AD6D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3BBCF2D-138C-46B9-AE61-BBD31CE5BD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B1E711-1F5A-4FBF-A47E-3E68F8E6F4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A56F45-8CB2-4A3D-B84A-64722ACF5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497331" y="8206749"/>
            <a:ext cx="18928080" cy="13693138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44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09ADB1-4F5A-46B7-80F5-326ABD24F8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497331" y="22029429"/>
            <a:ext cx="18928080" cy="720089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82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51BE1CB-2568-48BD-903F-EFF1DACA4B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1FE138-CEA0-4A61-B181-680F6CD673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D317BD9-E80C-478F-A01A-8CC687E753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283EED-E2E2-4617-BDA1-9D93C3C4DD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C4F9FDE-CA47-4AC9-86FC-B046CB4AEC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508760" y="8763000"/>
            <a:ext cx="9326880" cy="2088642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0AB0ED-81F6-42C9-9028-4FED4624BC8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1109960" y="8763000"/>
            <a:ext cx="9326880" cy="2088642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278D2CF-F636-457E-85A3-9C592D2B13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3113F49-505B-46F5-8FA8-35F9136848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23179B-87AD-4244-A698-65BC343F81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782A476-3B74-4423-9D4E-8064154E6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618" y="1752607"/>
            <a:ext cx="18928080" cy="636270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E74BC8-7554-4A4F-8D56-F5436E15FB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511621" y="8069582"/>
            <a:ext cx="9284016" cy="3954778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DA274AC-F673-4CCD-A632-32FEB1070C7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511621" y="12024360"/>
            <a:ext cx="9284016" cy="1768602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FD44DCB-9BAA-44B4-AF96-F410B9C3351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109961" y="8069582"/>
            <a:ext cx="9329738" cy="3954778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C54CE86-F8E1-4403-A0ED-0623894034D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11109961" y="12024360"/>
            <a:ext cx="9329738" cy="1768602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553E371-4179-42E7-9409-4C8FD72D77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B1490FE-BDFA-4486-BFBD-A030334C2B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CC21F3C-B339-441F-A319-2240B4D8F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7EC244-F9E5-41FD-835C-57ADAFBF4C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B383493-558F-4B25-8A7D-8C9B7E72E6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39E4BC8-44B6-4086-9CAA-A1E73D0F5B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EFDE317-1B9A-4CA1-8EFF-EF4DAE0A2D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3D08B1E-0FEE-42D3-BA4D-DC3717CBE0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43EA26F-4C9E-4191-8A36-47C8D11A77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9C46695-BAFB-4E27-9D57-DCCBC45D65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02CC6E-CEF7-461D-9142-65DFBE01C2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619" y="2194560"/>
            <a:ext cx="7078027" cy="768096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768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9A61EA-103C-48F1-9D47-E3EA4427FEC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329738" y="4739647"/>
            <a:ext cx="11109960" cy="23393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680"/>
            </a:lvl1pPr>
            <a:lvl2pPr>
              <a:buNone/>
              <a:defRPr sz="6720"/>
            </a:lvl2pPr>
            <a:lvl3pPr>
              <a:buNone/>
              <a:defRPr sz="5760"/>
            </a:lvl3pPr>
            <a:lvl4pPr>
              <a:buNone/>
              <a:defRPr sz="4800"/>
            </a:lvl4pPr>
            <a:lvl5pPr>
              <a:buNone/>
              <a:defRPr sz="4800"/>
            </a:lvl5pPr>
            <a:lvl6pPr>
              <a:buNone/>
              <a:defRPr sz="4800"/>
            </a:lvl6pPr>
            <a:lvl7pPr>
              <a:buNone/>
              <a:defRPr sz="4800"/>
            </a:lvl7pPr>
            <a:lvl8pPr>
              <a:buNone/>
              <a:defRPr sz="4800"/>
            </a:lvl8pPr>
            <a:lvl9pPr>
              <a:buNone/>
              <a:defRPr sz="4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9D28E21-926E-4E22-9A8D-15CBE347F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11619" y="9875520"/>
            <a:ext cx="7078027" cy="1829562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15A3CF1-DC5A-4D0D-81E3-A6185C1892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9F81E9-02F4-43FB-A047-57354B37F0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A8EFBB8-9A2C-4846-9D94-7FA84A8DE0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EE20870-BADD-46AE-8B87-F130E3B082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619" y="2194560"/>
            <a:ext cx="7078027" cy="768096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768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7C1D9FF-8D5E-45DE-BE7D-62B8F43DC17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9329738" y="4739647"/>
            <a:ext cx="11109960" cy="23393400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4711C6D-21D8-48ED-89A6-D6908248EA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11619" y="9875520"/>
            <a:ext cx="7078027" cy="1829562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1F55C8C-FD55-41F4-B3E6-BDEBCBD91F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E18D2AE-3877-4FBC-8852-3AA8CF291B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D633025-C035-49DD-B105-2739834368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E7846E-2F2F-4FD6-BC85-F26D5C416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7D8B925-4EBB-4F6F-B0FF-B6C0264AE9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18F308-B9A0-470C-A182-1866E00A80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D4149BE-A636-43C4-ABEF-33B35E0A3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13A2E67-3AD4-4ED9-B9DF-31FF995592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DC7BD4C-76E8-4207-AB09-5B9BFD01D7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704821" y="1752600"/>
            <a:ext cx="4732020" cy="27896822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C28678E-0A3A-4BFB-B610-1067A647D7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508761" y="1752600"/>
            <a:ext cx="13921740" cy="27896822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4D4407B-067C-4CFA-8F16-6E7BC2CB35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FD3501D-2C53-41AC-8D8D-49DE9DC01F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03F0C52-7FA8-49C9-83C1-D680025E4E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1783de103e40e0" /><Relationship Type="http://schemas.openxmlformats.org/officeDocument/2006/relationships/slideLayout" Target="/ppt/slideLayouts/slideLayout1.xml" Id="R164ddfed0fbd42d0" /><Relationship Type="http://schemas.openxmlformats.org/officeDocument/2006/relationships/slideLayout" Target="/ppt/slideLayouts/slideLayout2.xml" Id="R29e1414a86ca4978" /><Relationship Type="http://schemas.openxmlformats.org/officeDocument/2006/relationships/slideLayout" Target="/ppt/slideLayouts/slideLayout3.xml" Id="Rd15b9a552601483e" /><Relationship Type="http://schemas.openxmlformats.org/officeDocument/2006/relationships/slideLayout" Target="/ppt/slideLayouts/slideLayout4.xml" Id="R2f09c77a361f4503" /><Relationship Type="http://schemas.openxmlformats.org/officeDocument/2006/relationships/slideLayout" Target="/ppt/slideLayouts/slideLayout5.xml" Id="R24f99d2274444e67" /><Relationship Type="http://schemas.openxmlformats.org/officeDocument/2006/relationships/slideLayout" Target="/ppt/slideLayouts/slideLayout6.xml" Id="Reb8b567b1e4c4437" /><Relationship Type="http://schemas.openxmlformats.org/officeDocument/2006/relationships/slideLayout" Target="/ppt/slideLayouts/slideLayout7.xml" Id="R548b5e3f188342e6" /><Relationship Type="http://schemas.openxmlformats.org/officeDocument/2006/relationships/slideLayout" Target="/ppt/slideLayouts/slideLayout8.xml" Id="R99034648a95f4280" /><Relationship Type="http://schemas.openxmlformats.org/officeDocument/2006/relationships/slideLayout" Target="/ppt/slideLayouts/slideLayout9.xml" Id="Rdc5b75217d944734" /><Relationship Type="http://schemas.openxmlformats.org/officeDocument/2006/relationships/slideLayout" Target="/ppt/slideLayouts/slideLayout10.xml" Id="Re2d2e2f75cf9482a" /><Relationship Type="http://schemas.openxmlformats.org/officeDocument/2006/relationships/slideLayout" Target="/ppt/slideLayouts/slideLayout11.xml" Id="Reba15ee1c763480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ABD140E-72F9-4EA2-989B-9CDC8D3E16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08760" y="1752607"/>
            <a:ext cx="18928080" cy="63627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9C12AFE-B209-47FB-AD74-4463DC2D7C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508760" y="8763000"/>
            <a:ext cx="18928080" cy="208864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A1EE08-0114-4906-BB3E-59F7E88B68F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1508760" y="30510487"/>
            <a:ext cx="493776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511F4129-D723-AE42-8870-A3D58B405FED}" type="datetimeFigureOut">
              <a:t>15/07/26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11C2234-ED9E-4EFB-AEBD-9DB90995BD0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7269480" y="30510487"/>
            <a:ext cx="740664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C6C71B7-785C-4429-90B6-B5AE6750BC8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5499080" y="30510487"/>
            <a:ext cx="493776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725DFEBD-7806-FF40-BF59-9BDF958CB377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4ddfed0fbd42d0"/>
    <p:sldLayoutId xmlns:r="http://schemas.openxmlformats.org/officeDocument/2006/relationships" id="2147483650" r:id="R29e1414a86ca4978"/>
    <p:sldLayoutId xmlns:r="http://schemas.openxmlformats.org/officeDocument/2006/relationships" id="2147483651" r:id="Rd15b9a552601483e"/>
    <p:sldLayoutId xmlns:r="http://schemas.openxmlformats.org/officeDocument/2006/relationships" id="2147483652" r:id="R2f09c77a361f4503"/>
    <p:sldLayoutId xmlns:r="http://schemas.openxmlformats.org/officeDocument/2006/relationships" id="2147483653" r:id="R24f99d2274444e67"/>
    <p:sldLayoutId xmlns:r="http://schemas.openxmlformats.org/officeDocument/2006/relationships" id="2147483654" r:id="Reb8b567b1e4c4437"/>
    <p:sldLayoutId xmlns:r="http://schemas.openxmlformats.org/officeDocument/2006/relationships" id="2147483655" r:id="R548b5e3f188342e6"/>
    <p:sldLayoutId xmlns:r="http://schemas.openxmlformats.org/officeDocument/2006/relationships" id="2147483656" r:id="R99034648a95f4280"/>
    <p:sldLayoutId xmlns:r="http://schemas.openxmlformats.org/officeDocument/2006/relationships" id="2147483657" r:id="Rdc5b75217d944734"/>
    <p:sldLayoutId xmlns:r="http://schemas.openxmlformats.org/officeDocument/2006/relationships" id="2147483658" r:id="Re2d2e2f75cf9482a"/>
    <p:sldLayoutId xmlns:r="http://schemas.openxmlformats.org/officeDocument/2006/relationships" id="2147483659" r:id="Reba15ee1c763480f"/>
  </p:sldLayoutIdLst>
  <p:txStyles>
    <p:titleStyle>
      <a:lvl1pPr xmlns:a="http://schemas.openxmlformats.org/drawingml/2006/main" algn="l">
        <a:lnSpc>
          <a:spcPct val="90000"/>
        </a:lnSpc>
        <a:buNone/>
        <a:defRPr sz="1056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48640" indent="-548640" algn="l">
        <a:lnSpc>
          <a:spcPct val="90000"/>
        </a:lnSpc>
        <a:spcBef>
          <a:spcPts val="2400"/>
        </a:spcBef>
        <a:buChar char="•"/>
        <a:defRPr sz="672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45920" indent="-548640" algn="l">
        <a:lnSpc>
          <a:spcPct val="90000"/>
        </a:lnSpc>
        <a:spcBef>
          <a:spcPts val="1200"/>
        </a:spcBef>
        <a:buChar char="•"/>
        <a:defRPr sz="576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743200" indent="-548640" algn="l">
        <a:lnSpc>
          <a:spcPct val="90000"/>
        </a:lnSpc>
        <a:spcBef>
          <a:spcPts val="1200"/>
        </a:spcBef>
        <a:buChar char="•"/>
        <a:defRPr sz="4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84048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93776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603504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713232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22960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32688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9728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9456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9184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38912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48640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58368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68096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77824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6d618b2be48b1" /><Relationship Type="http://schemas.openxmlformats.org/officeDocument/2006/relationships/image" Target="/ppt/media/image.png" Id="R5eb2e285de504e58" /><Relationship Type="http://schemas.openxmlformats.org/officeDocument/2006/relationships/chart" Target="/ppt/slides/charts/chart1.xml" Id="Ra254282b7f224c57" /><Relationship Type="http://schemas.openxmlformats.org/officeDocument/2006/relationships/image" Target="/ppt/media/image2.png" Id="Ra24571289eb646c0" /><Relationship Type="http://schemas.openxmlformats.org/officeDocument/2006/relationships/image" Target="/ppt/media/image3.png" Id="R84c005af342e4d11" /><Relationship Type="http://schemas.openxmlformats.org/officeDocument/2006/relationships/image" Target="/ppt/media/image4.png" Id="R1177d59d6c0c4760" /><Relationship Type="http://schemas.openxmlformats.org/officeDocument/2006/relationships/image" Target="/ppt/media/image5.png" Id="Ra3f1a0d81acc4956" /><Relationship Type="http://schemas.openxmlformats.org/officeDocument/2006/relationships/image" Target="/ppt/media/image6.png" Id="Rce97760425b8429c" /><Relationship Type="http://schemas.openxmlformats.org/officeDocument/2006/relationships/notesSlide" Target="/ppt/notesSlides/notesSlide1.xml" Id="R285a85417e814257" 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Static w=2</c:v>
          </c:tx>
          <c:spPr>
            <a:solidFill xmlns:a="http://schemas.openxmlformats.org/drawingml/2006/main">
              <a:srgbClr val="AEB8C2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500" b="1">
                    <a:solidFill>
                      <a:srgbClr val="17223B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Smiling</c:v>
              </c:pt>
              <c:pt idx="1">
                <c:v>Bangs</c:v>
              </c:pt>
              <c:pt idx="2">
                <c:v>Blond Hair</c:v>
              </c:pt>
            </c:strLit>
          </c:cat>
          <c:val>
            <c:numLit>
              <c:formatCode>0.0</c:formatCode>
              <c:ptCount val="3"/>
              <c:pt idx="0">
                <c:v>98.5</c:v>
              </c:pt>
              <c:pt idx="1">
                <c:v>98</c:v>
              </c:pt>
              <c:pt idx="2">
                <c:v>98.7</c:v>
              </c:pt>
            </c:numLit>
          </c:val>
        </c:ser>
        <c:ser>
          <c:idx val="1"/>
          <c:order val="1"/>
          <c:tx>
            <c:v>Full CRH-CFG</c:v>
          </c:tx>
          <c:spPr>
            <a:solidFill xmlns:a="http://schemas.openxmlformats.org/drawingml/2006/main">
              <a:srgbClr val="0D7C66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500" b="1">
                    <a:solidFill>
                      <a:srgbClr val="17223B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Smiling</c:v>
              </c:pt>
              <c:pt idx="1">
                <c:v>Bangs</c:v>
              </c:pt>
              <c:pt idx="2">
                <c:v>Blond Hair</c:v>
              </c:pt>
            </c:strLit>
          </c:cat>
          <c:val>
            <c:numLit>
              <c:formatCode>0.0</c:formatCode>
              <c:ptCount val="3"/>
              <c:pt idx="0">
                <c:v>98.7</c:v>
              </c:pt>
              <c:pt idx="1">
                <c:v>98.4</c:v>
              </c:pt>
              <c:pt idx="2">
                <c:v>99.3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7DCE2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7223B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97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8ED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06D"/>
                </a:solidFill>
              </a:defRPr>
            </a:pPr>
          </a:p>
        </c:txPr>
        <c:crossAx val="48650112"/>
        <c:crosses val="autoZero"/>
        <c:crossBetween val="between"/>
        <c:majorUnit val="1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AE3045-EE25-1A79-FB96-90D6B637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6807"/>
            <a:ext cx="18907125" cy="175432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700" b="1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5400"/>
              <a:t>CRH-CFG: Constraint-aware Receding-Horizon Guidance</a:t>
            </a:r>
          </a:p>
          <a:p xmlns:a="http://schemas.openxmlformats.org/drawingml/2006/main">
            <a:pPr>
              <a:buNone/>
              <a:defRPr sz="5700" b="1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5400"/>
              <a:t>                  </a:t>
            </a:r>
            <a:r>
              <a:rPr sz="5400"/>
              <a:t>for Attribute-Conditioned Flow Matching</a:t>
            </a:r>
          </a:p>
        </p:txBody>
      </p:sp>
      <p:pic>
        <p:nvPicPr>
          <p:cNvPr id="115" name="Picture 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b2e285de504e58"/>
          <a:srcRect xmlns:a="http://schemas.openxmlformats.org/drawingml/2006/main" l="7788" t="14794" r="5471" b="19886"/>
          <a:stretch xmlns:a="http://schemas.openxmlformats.org/drawingml/2006/main"/>
        </p:blipFill>
        <p:spPr>
          <a:xfrm xmlns:a="http://schemas.openxmlformats.org/drawingml/2006/main">
            <a:off x="19868702" y="0"/>
            <a:ext cx="2076898" cy="1564016"/>
          </a:xfrm>
          <a:prstGeom xmlns:a="http://schemas.openxmlformats.org/drawingml/2006/main" prst="rect">
            <a:avLst/>
          </a:prstGeom>
        </p:spPr>
      </p:pic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ABB37E2-0B5C-8AF3-C178-48464CF3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43150"/>
            <a:ext cx="180975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7223B"/>
                </a:solidFill>
                <a:latin typeface="Arial"/>
                <a:ea typeface="Arial"/>
                <a:cs typeface="Arial"/>
              </a:rPr>
              <a:t>Mu Chen  |  CMU 10-799 Diffusion &amp; Flow Matching  |  Controllability Track</a:t>
            </a:r>
          </a:p>
        </p:txBody>
      </p:sp>
      <p:sp>
        <p:nvSpPr>
          <p:cNvPr id="11" name="hero-band">
            <a:extLst xmlns:a="http://schemas.openxmlformats.org/drawingml/2006/main">
              <a:ext uri="{FF2B5EF4-FFF2-40B4-BE49-F238E27FC236}">
                <a16:creationId xmlns:a16="http://schemas.microsoft.com/office/drawing/2014/main" id="{9EC2B0CC-EBE0-48D2-B10A-0AF5556E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4250"/>
            <a:ext cx="210312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7223B"/>
          </a:solidFill>
          <a:ln xmlns:a="http://schemas.openxmlformats.org/drawingml/2006/main" w="19050">
            <a:solidFill>
              <a:srgbClr val="17223B"/>
            </a:solidFill>
            <a:prstDash val="solid"/>
          </a:ln>
        </p:spPr>
      </p:sp>
      <p:sp>
        <p:nvSpPr>
          <p:cNvPr id="12" name="hero-thesis">
            <a:extLst xmlns:a="http://schemas.openxmlformats.org/drawingml/2006/main">
              <a:ext uri="{FF2B5EF4-FFF2-40B4-BE49-F238E27FC236}">
                <a16:creationId xmlns:a16="http://schemas.microsoft.com/office/drawing/2014/main" id="{3B4D3386-32BE-4B20-B004-8751C878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Optima"/>
                <a:ea typeface="Optima"/>
                <a:cs typeface="Optima"/>
              </a:defRPr>
            </a:pPr>
            <a:r>
              <a:rPr sz="3375" b="1" i="0">
                <a:solidFill>
                  <a:srgbClr val="FFFFFF"/>
                </a:solidFill>
                <a:latin typeface="Optima"/>
                <a:ea typeface="Optima"/>
                <a:cs typeface="Optima"/>
              </a:rPr>
              <a:t>One affine guidance axis + one analytic endpoint map turns fixed CFG into constrained feedback.</a:t>
            </a:r>
          </a:p>
        </p:txBody>
      </p:sp>
      <p:sp>
        <p:nvSpPr>
          <p:cNvPr id="13" name="hero-success-value">
            <a:extLst xmlns:a="http://schemas.openxmlformats.org/drawingml/2006/main">
              <a:ext uri="{FF2B5EF4-FFF2-40B4-BE49-F238E27FC236}">
                <a16:creationId xmlns:a16="http://schemas.microsoft.com/office/drawing/2014/main" id="{8F05A686-4FF0-4BDF-B6FB-0B755037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384810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4350" b="1" i="0">
                <a:solidFill>
                  <a:srgbClr val="7FE0C5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7FE0C5"/>
                </a:solidFill>
                <a:latin typeface="Arial"/>
                <a:ea typeface="Arial"/>
                <a:cs typeface="Arial"/>
              </a:rPr>
              <a:t>1-D</a:t>
            </a:r>
          </a:p>
        </p:txBody>
      </p:sp>
      <p:sp>
        <p:nvSpPr>
          <p:cNvPr id="14" name="hero-success-label">
            <a:extLst xmlns:a="http://schemas.openxmlformats.org/drawingml/2006/main">
              <a:ext uri="{FF2B5EF4-FFF2-40B4-BE49-F238E27FC236}">
                <a16:creationId xmlns:a16="http://schemas.microsoft.com/office/drawing/2014/main" id="{05A42A97-9CBB-4A41-82DC-330D7DDF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3400" y="4572000"/>
            <a:ext cx="2743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0" i="0">
                <a:solidFill>
                  <a:srgbClr val="CAD4E1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CAD4E1"/>
                </a:solidFill>
                <a:latin typeface="Arial"/>
                <a:ea typeface="Arial"/>
                <a:cs typeface="Arial"/>
              </a:rPr>
              <a:t>CFG control authority</a:t>
            </a:r>
          </a:p>
        </p:txBody>
      </p:sp>
      <p:sp>
        <p:nvSpPr>
          <p:cNvPr id="15" name="hero-cost-value">
            <a:extLst xmlns:a="http://schemas.openxmlformats.org/drawingml/2006/main">
              <a:ext uri="{FF2B5EF4-FFF2-40B4-BE49-F238E27FC236}">
                <a16:creationId xmlns:a16="http://schemas.microsoft.com/office/drawing/2014/main" id="{25D03893-BF19-4D96-8BDE-411049C2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1375" y="384810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4350" b="1" i="0">
                <a:solidFill>
                  <a:srgbClr val="8ED7F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8ED7F0"/>
                </a:solidFill>
                <a:latin typeface="Arial"/>
                <a:ea typeface="Arial"/>
                <a:cs typeface="Arial"/>
              </a:rPr>
              <a:t>x0</a:t>
            </a:r>
          </a:p>
        </p:txBody>
      </p:sp>
      <p:sp>
        <p:nvSpPr>
          <p:cNvPr id="16" name="hero-cost-label">
            <a:extLst xmlns:a="http://schemas.openxmlformats.org/drawingml/2006/main">
              <a:ext uri="{FF2B5EF4-FFF2-40B4-BE49-F238E27FC236}">
                <a16:creationId xmlns:a16="http://schemas.microsoft.com/office/drawing/2014/main" id="{59ED6D33-E1B1-4068-BA93-27CCFA8C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8525" y="4572000"/>
            <a:ext cx="2743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0" i="0">
                <a:solidFill>
                  <a:srgbClr val="CAD4E1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CAD4E1"/>
                </a:solidFill>
                <a:latin typeface="Arial"/>
                <a:ea typeface="Arial"/>
                <a:cs typeface="Arial"/>
              </a:rPr>
              <a:t>analytic endpoint forecast</a:t>
            </a:r>
          </a:p>
        </p:txBody>
      </p:sp>
      <p:sp>
        <p:nvSpPr>
          <p:cNvPr id="17" name="hero-nfe-value">
            <a:extLst xmlns:a="http://schemas.openxmlformats.org/drawingml/2006/main">
              <a:ext uri="{FF2B5EF4-FFF2-40B4-BE49-F238E27FC236}">
                <a16:creationId xmlns:a16="http://schemas.microsoft.com/office/drawing/2014/main" id="{90251B50-1192-4BC9-A0DE-1C27AAF9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0" y="384810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4350" b="1" i="0">
                <a:solidFill>
                  <a:srgbClr val="FFD28A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FFD28A"/>
                </a:solidFill>
                <a:latin typeface="Arial"/>
                <a:ea typeface="Arial"/>
                <a:cs typeface="Arial"/>
              </a:rPr>
              <a:t>+0</a:t>
            </a:r>
          </a:p>
        </p:txBody>
      </p:sp>
      <p:sp>
        <p:nvSpPr>
          <p:cNvPr id="18" name="hero-nfe-label">
            <a:extLst xmlns:a="http://schemas.openxmlformats.org/drawingml/2006/main">
              <a:ext uri="{FF2B5EF4-FFF2-40B4-BE49-F238E27FC236}">
                <a16:creationId xmlns:a16="http://schemas.microsoft.com/office/drawing/2014/main" id="{5FBB75F1-B174-422B-86C8-3A69450D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73650" y="4572000"/>
            <a:ext cx="3028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0" i="0">
                <a:solidFill>
                  <a:srgbClr val="CAD4E1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CAD4E1"/>
                </a:solidFill>
                <a:latin typeface="Arial"/>
                <a:ea typeface="Arial"/>
                <a:cs typeface="Arial"/>
              </a:rPr>
              <a:t>extra U-Net calls for selection</a:t>
            </a:r>
          </a:p>
        </p:txBody>
      </p:sp>
      <p:sp>
        <p:nvSpPr>
          <p:cNvPr id="19" name="problem-panel">
            <a:extLst xmlns:a="http://schemas.openxmlformats.org/drawingml/2006/main">
              <a:ext uri="{FF2B5EF4-FFF2-40B4-BE49-F238E27FC236}">
                <a16:creationId xmlns:a16="http://schemas.microsoft.com/office/drawing/2014/main" id="{5911706F-897E-47ED-AEF7-FB133B45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0"/>
            <a:ext cx="6667500" cy="7000875"/>
          </a:xfrm>
          <a:prstGeom xmlns:a="http://schemas.openxmlformats.org/drawingml/2006/main" prst="roundRect">
            <a:avLst>
              <a:gd name="adj" fmla="val 1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CE2"/>
            </a:solidFill>
            <a:prstDash val="solid"/>
          </a:ln>
        </p:spPr>
      </p:sp>
      <p:sp>
        <p:nvSpPr>
          <p:cNvPr id="20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1F087BAF-8E6D-4CA6-AFEA-69C5E506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0"/>
            <a:ext cx="114300" cy="700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1230"/>
          </a:solidFill>
          <a:ln xmlns:a="http://schemas.openxmlformats.org/drawingml/2006/main" w="19050">
            <a:solidFill>
              <a:srgbClr val="C41230"/>
            </a:solidFill>
            <a:prstDash val="solid"/>
          </a:ln>
        </p:spPr>
      </p:sp>
      <p:sp>
        <p:nvSpPr>
          <p:cNvPr id="21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612A8046-5611-4173-B57B-EFCE54A4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19850"/>
            <a:ext cx="609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First principles: derive the controller</a:t>
            </a:r>
          </a:p>
        </p:txBody>
      </p:sp>
      <p:sp>
        <p:nvSpPr>
          <p:cNvPr id="22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690E0076-03FD-4BCF-9720-DCC53673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067550"/>
            <a:ext cx="60198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1  Field structure</a:t>
            </a:r>
          </a:p>
          <a:p xmlns:a="http://schemas.openxmlformats.org/drawingml/2006/main">
            <a:pPr algn="l">
              <a:buNone/>
              <a:defRPr sz="2100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All scalar CFG actions reuse </a:t>
            </a:r>
            <a14:m xmlns:a14="http://schemas.microsoft.com/office/drawing/2010/main">
              <m:oMathPara xmlns:m="http://schemas.openxmlformats.org/officeDocument/2006/math">
                <m:oMath>
                  <m:sSub>
                    <m:e>
                      <m:r>
                        <a:rPr xmlns:a="http://schemas.openxmlformats.org/drawingml/2006/main" lang="zh-SG" sz="2100" b="0" i="1">
                          <a:solidFill>
                            <a:srgbClr val="17223B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𝑔</m:t>
                      </m:r>
                    </m:e>
                    <m:sub>
                      <m:r>
                        <a:rPr xmlns:a="http://schemas.openxmlformats.org/drawingml/2006/main" lang="en-US" sz="2100" b="0" i="1">
                          <a:solidFill>
                            <a:srgbClr val="17223B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sub>
                  </m:sSub>
                  <m:r>
                    <a:rPr xmlns:a="http://schemas.openxmlformats.org/drawingml/2006/main" lang="en-US" sz="2100" b="0" i="1">
                      <a:solidFill>
                        <a:srgbClr val="17223B"/>
                      </a:solidFill>
                      <a:latin typeface="Cambria Math"/>
                      <a:ea typeface="Cambria Math"/>
                      <a:cs typeface="Cambria Math"/>
                    </a:rPr>
                    <m:t>=</m:t>
                  </m:r>
                  <m:sSub>
                    <m:e>
                      <m:r>
                        <a:rPr xmlns:a="http://schemas.openxmlformats.org/drawingml/2006/main" lang="zh-SG" sz="2100" b="0" i="1">
                          <a:solidFill>
                            <a:srgbClr val="17223B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𝑣</m:t>
                      </m:r>
                    </m:e>
                    <m:sub>
                      <m:r>
                        <a:rPr xmlns:a="http://schemas.openxmlformats.org/drawingml/2006/main" lang="en-US" sz="2100" b="0" i="1">
                          <a:solidFill>
                            <a:srgbClr val="17223B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𝑐</m:t>
                      </m:r>
                    </m:sub>
                  </m:sSub>
                  <m:r>
                    <a:rPr xmlns:a="http://schemas.openxmlformats.org/drawingml/2006/main" lang="zh-SG" sz="2100" b="0" i="1">
                      <a:solidFill>
                        <a:srgbClr val="17223B"/>
                      </a:solidFill>
                      <a:latin typeface="Cambria Math"/>
                      <a:ea typeface="Cambria Math"/>
                      <a:cs typeface="Cambria Math"/>
                    </a:rPr>
                    <m:t>−</m:t>
                  </m:r>
                  <m:sSub>
                    <m:e>
                      <m:r>
                        <a:rPr xmlns:a="http://schemas.openxmlformats.org/drawingml/2006/main" lang="zh-SG" sz="2100" b="0" i="1">
                          <a:solidFill>
                            <a:srgbClr val="17223B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𝑣</m:t>
                      </m:r>
                    </m:e>
                    <m:sub>
                      <m:r>
                        <a:rPr xmlns:a="http://schemas.openxmlformats.org/drawingml/2006/main" lang="en-US" sz="2100" b="0" i="1">
                          <a:solidFill>
                            <a:srgbClr val="17223B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𝑢</m:t>
                      </m:r>
                    </m:sub>
                  </m:sSub>
                </m:oMath>
              </m:oMathPara>
            </a14:m>
            <a:r>
              <a:rPr sz="2100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2  Endpoint geometry</a:t>
            </a:r>
          </a:p>
          <a:p xmlns:a="http://schemas.openxmlformats.org/drawingml/2006/main">
            <a:pPr algn="l">
              <a:buNone/>
              <a:defRPr sz="2100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A straight path maps each action to a clean-endpoint forecast.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3  Control principle</a:t>
            </a:r>
          </a:p>
          <a:p xmlns:a="http://schemas.openxmlformats.org/drawingml/2006/main">
            <a:pPr algn="l">
              <a:buNone/>
              <a:defRPr sz="2100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Satisfy target + protected-attribute proxies with the least intervention, then re-observe.</a:t>
            </a:r>
          </a:p>
        </p:txBody>
      </p:sp>
      <p:sp>
        <p:nvSpPr>
          <p:cNvPr id="23" name="problem-question">
            <a:extLst xmlns:a="http://schemas.openxmlformats.org/drawingml/2006/main">
              <a:ext uri="{FF2B5EF4-FFF2-40B4-BE49-F238E27FC236}">
                <a16:creationId xmlns:a16="http://schemas.microsoft.com/office/drawing/2014/main" id="{9BA828DC-B90C-4419-9B0B-8F8B1A37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1144250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3DE"/>
          </a:solidFill>
          <a:ln xmlns:a="http://schemas.openxmlformats.org/drawingml/2006/main" w="19050">
            <a:solidFill>
              <a:srgbClr val="E7B768"/>
            </a:solidFill>
            <a:prstDash val="solid"/>
          </a:ln>
        </p:spPr>
      </p:sp>
      <p:sp>
        <p:nvSpPr>
          <p:cNvPr id="24" name="problem-question-copy">
            <a:extLst xmlns:a="http://schemas.openxmlformats.org/drawingml/2006/main">
              <a:ext uri="{FF2B5EF4-FFF2-40B4-BE49-F238E27FC236}">
                <a16:creationId xmlns:a16="http://schemas.microsoft.com/office/drawing/2014/main" id="{2F39F482-CB70-4B3B-9779-9A4787F7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372850"/>
            <a:ext cx="5410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Fixed w is open-loop. CRH-CFG asks the finite constrained question again at each observed state.</a:t>
            </a:r>
          </a:p>
        </p:txBody>
      </p:sp>
      <p:sp>
        <p:nvSpPr>
          <p:cNvPr id="25" name="method-panel">
            <a:extLst xmlns:a="http://schemas.openxmlformats.org/drawingml/2006/main">
              <a:ext uri="{FF2B5EF4-FFF2-40B4-BE49-F238E27FC236}">
                <a16:creationId xmlns:a16="http://schemas.microsoft.com/office/drawing/2014/main" id="{B9B3E453-E8A9-4AF2-BD92-1456F4B2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91250"/>
            <a:ext cx="14058900" cy="7000875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CE2"/>
            </a:solidFill>
            <a:prstDash val="solid"/>
          </a:ln>
        </p:spPr>
      </p:sp>
      <p:sp>
        <p:nvSpPr>
          <p:cNvPr id="26" name="method-accent">
            <a:extLst xmlns:a="http://schemas.openxmlformats.org/drawingml/2006/main">
              <a:ext uri="{FF2B5EF4-FFF2-40B4-BE49-F238E27FC236}">
                <a16:creationId xmlns:a16="http://schemas.microsoft.com/office/drawing/2014/main" id="{7F9295F7-251E-4F25-956E-EBC7DC05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91250"/>
            <a:ext cx="114300" cy="700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 w="19050">
            <a:solidFill>
              <a:srgbClr val="1F6F8B"/>
            </a:solidFill>
            <a:prstDash val="solid"/>
          </a:ln>
        </p:spPr>
      </p:sp>
      <p:sp>
        <p:nvSpPr>
          <p:cNvPr id="27" name="method-title">
            <a:extLst xmlns:a="http://schemas.openxmlformats.org/drawingml/2006/main">
              <a:ext uri="{FF2B5EF4-FFF2-40B4-BE49-F238E27FC236}">
                <a16:creationId xmlns:a16="http://schemas.microsoft.com/office/drawing/2014/main" id="{A2CBA07B-E95A-4E76-9A1D-D3762DED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6419850"/>
            <a:ext cx="1348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F6F8B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1F6F8B"/>
                </a:solidFill>
                <a:latin typeface="Optima"/>
                <a:ea typeface="Optima"/>
                <a:cs typeface="Optima"/>
              </a:rPr>
              <a:t>CRH-CFG: field reuse -&gt; endpoint reasoning -&gt; constrained action</a:t>
            </a:r>
          </a:p>
        </p:txBody>
      </p:sp>
      <p:sp>
        <p:nvSpPr>
          <p:cNvPr id="51" name="results-panel">
            <a:extLst xmlns:a="http://schemas.openxmlformats.org/drawingml/2006/main">
              <a:ext uri="{FF2B5EF4-FFF2-40B4-BE49-F238E27FC236}">
                <a16:creationId xmlns:a16="http://schemas.microsoft.com/office/drawing/2014/main" id="{36B12453-D8A5-4C50-863A-09A98846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06450"/>
            <a:ext cx="9144000" cy="8477250"/>
          </a:xfrm>
          <a:prstGeom xmlns:a="http://schemas.openxmlformats.org/drawingml/2006/main" prst="roundRect">
            <a:avLst>
              <a:gd name="adj" fmla="val 1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CE2"/>
            </a:solidFill>
            <a:prstDash val="solid"/>
          </a:ln>
        </p:spPr>
      </p:sp>
      <p:sp>
        <p:nvSpPr>
          <p:cNvPr id="52" name="results-accent">
            <a:extLst xmlns:a="http://schemas.openxmlformats.org/drawingml/2006/main">
              <a:ext uri="{FF2B5EF4-FFF2-40B4-BE49-F238E27FC236}">
                <a16:creationId xmlns:a16="http://schemas.microsoft.com/office/drawing/2014/main" id="{DF067139-E550-41B1-9B1A-6ACBD8CC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06450"/>
            <a:ext cx="114300" cy="847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19050">
            <a:solidFill>
              <a:srgbClr val="0D7C66"/>
            </a:solidFill>
            <a:prstDash val="solid"/>
          </a:ln>
        </p:spPr>
      </p:sp>
      <p:sp>
        <p:nvSpPr>
          <p:cNvPr id="53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68D23187-666F-4866-9255-9722B5B7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7350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0D7C66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0D7C66"/>
                </a:solidFill>
                <a:latin typeface="Optima"/>
                <a:ea typeface="Optima"/>
                <a:cs typeface="Optima"/>
              </a:rPr>
              <a:t>Evidence: adherence at matched generator work</a:t>
            </a:r>
          </a:p>
        </p:txBody>
      </p:sp>
      <p:graphicFrame>
        <p:nvGraphicFramePr>
          <p:cNvPr id="137" name="Chart"/>
          <p:cNvGraphicFramePr/>
          <p:nvPr/>
        </p:nvGraphicFramePr>
        <p:xfrm>
          <a:off xmlns:a="http://schemas.openxmlformats.org/drawingml/2006/main" x="781050" y="14344650"/>
          <a:ext xmlns:a="http://schemas.openxmlformats.org/drawingml/2006/main" cx="84391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54282b7f224c57"/>
          </a:graphicData>
        </a:graphic>
      </p:graphicFrame>
      <p:sp>
        <p:nvSpPr>
          <p:cNvPr id="55" name="results-counts">
            <a:extLst xmlns:a="http://schemas.openxmlformats.org/drawingml/2006/main">
              <a:ext uri="{FF2B5EF4-FFF2-40B4-BE49-F238E27FC236}">
                <a16:creationId xmlns:a16="http://schemas.microsoft.com/office/drawing/2014/main" id="{FB9469CC-1610-4833-9317-9B2C3B6CC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516600"/>
            <a:ext cx="8420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Observed successes (out of 1,000):</a:t>
            </a:r>
          </a:p>
          <a:p xmlns:a="http://schemas.openxmlformats.org/drawingml/2006/main">
            <a:pPr algn="ctr">
              <a:buNone/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Smiling 985 -&gt; 987   |   Bangs 980 -&gt; 984   |   Blond 987 -&gt; 993</a:t>
            </a:r>
          </a:p>
        </p:txBody>
      </p:sp>
      <p:sp>
        <p:nvSpPr>
          <p:cNvPr id="56" name="results-caveat">
            <a:extLst xmlns:a="http://schemas.openxmlformats.org/drawingml/2006/main">
              <a:ext uri="{FF2B5EF4-FFF2-40B4-BE49-F238E27FC236}">
                <a16:creationId xmlns:a16="http://schemas.microsoft.com/office/drawing/2014/main" id="{2DDAFCA9-451F-4892-9402-8F7E9E4D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773900"/>
            <a:ext cx="84201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3DE"/>
          </a:solidFill>
          <a:ln xmlns:a="http://schemas.openxmlformats.org/drawingml/2006/main" w="19050">
            <a:solidFill>
              <a:srgbClr val="E7B768"/>
            </a:solidFill>
            <a:prstDash val="solid"/>
          </a:ln>
        </p:spPr>
      </p:sp>
      <p:sp>
        <p:nvSpPr>
          <p:cNvPr id="57" name="results-caveat-copy">
            <a:extLst xmlns:a="http://schemas.openxmlformats.org/drawingml/2006/main">
              <a:ext uri="{FF2B5EF4-FFF2-40B4-BE49-F238E27FC236}">
                <a16:creationId xmlns:a16="http://schemas.microsoft.com/office/drawing/2014/main" id="{4156D2BA-34AC-4B3E-A671-99E9A140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926300"/>
            <a:ext cx="79248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Claim -&gt; evidence -&gt; boundary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Mean success: .9840 -&gt; .9880 (+0.4 pp). Cost: +1.80%, same U-Net work.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Common-w=1 preservation does not improve; KID_marg rises for all targets but cannot identify conditional quality. No per-seed transitions: descriptive only.</a:t>
            </a:r>
          </a:p>
        </p:txBody>
      </p:sp>
      <p:sp>
        <p:nvSpPr>
          <p:cNvPr id="58" name="qualitative-panel">
            <a:extLst xmlns:a="http://schemas.openxmlformats.org/drawingml/2006/main">
              <a:ext uri="{FF2B5EF4-FFF2-40B4-BE49-F238E27FC236}">
                <a16:creationId xmlns:a16="http://schemas.microsoft.com/office/drawing/2014/main" id="{9A01D0B2-443D-43C7-A31E-7FA88D3A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506450"/>
            <a:ext cx="11582400" cy="8477250"/>
          </a:xfrm>
          <a:prstGeom xmlns:a="http://schemas.openxmlformats.org/drawingml/2006/main" prst="roundRect">
            <a:avLst>
              <a:gd name="adj" fmla="val 1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CE2"/>
            </a:solidFill>
            <a:prstDash val="solid"/>
          </a:ln>
        </p:spPr>
      </p:sp>
      <p:sp>
        <p:nvSpPr>
          <p:cNvPr id="59" name="qualitative-accent">
            <a:extLst xmlns:a="http://schemas.openxmlformats.org/drawingml/2006/main">
              <a:ext uri="{FF2B5EF4-FFF2-40B4-BE49-F238E27FC236}">
                <a16:creationId xmlns:a16="http://schemas.microsoft.com/office/drawing/2014/main" id="{DB9004EC-7143-47C8-99D4-08DA0460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506450"/>
            <a:ext cx="114300" cy="847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1230"/>
          </a:solidFill>
          <a:ln xmlns:a="http://schemas.openxmlformats.org/drawingml/2006/main" w="19050">
            <a:solidFill>
              <a:srgbClr val="C41230"/>
            </a:solidFill>
            <a:prstDash val="solid"/>
          </a:ln>
        </p:spPr>
      </p:sp>
      <p:sp>
        <p:nvSpPr>
          <p:cNvPr id="60" name="qualitative-title">
            <a:extLst xmlns:a="http://schemas.openxmlformats.org/drawingml/2006/main">
              <a:ext uri="{FF2B5EF4-FFF2-40B4-BE49-F238E27FC236}">
                <a16:creationId xmlns:a16="http://schemas.microsoft.com/office/drawing/2014/main" id="{8458AE36-E6DE-4584-A00D-8A473D8C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373505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Evidence boundary: success, boundary, and failure cases</a:t>
            </a:r>
          </a:p>
        </p:txBody>
      </p:sp>
      <p:pic>
        <p:nvPicPr>
          <p:cNvPr id="144" name="图片 1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571289eb646c0"/>
          <a:stretch xmlns:a="http://schemas.openxmlformats.org/drawingml/2006/main"/>
        </p:blipFill>
        <p:spPr>
          <a:xfrm xmlns:a="http://schemas.openxmlformats.org/drawingml/2006/main">
            <a:off x="10325100" y="14793972"/>
            <a:ext cx="3314700" cy="2492256"/>
          </a:xfrm>
          <a:prstGeom xmlns:a="http://schemas.openxmlformats.org/drawingml/2006/main" prst="rect">
            <a:avLst/>
          </a:prstGeom>
        </p:spPr>
      </p:pic>
      <p:sp>
        <p:nvSpPr>
          <p:cNvPr id="62" name="mini-label-0">
            <a:extLst xmlns:a="http://schemas.openxmlformats.org/drawingml/2006/main">
              <a:ext uri="{FF2B5EF4-FFF2-40B4-BE49-F238E27FC236}">
                <a16:creationId xmlns:a16="http://schemas.microsoft.com/office/drawing/2014/main" id="{3400FB10-1A3C-4268-B1EF-7876DBB5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640300"/>
            <a:ext cx="3314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Smiling</a:t>
            </a:r>
          </a:p>
        </p:txBody>
      </p:sp>
      <p:pic>
        <p:nvPicPr>
          <p:cNvPr id="146" name="图片 16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c005af342e4d11"/>
          <a:stretch xmlns:a="http://schemas.openxmlformats.org/drawingml/2006/main"/>
        </p:blipFill>
        <p:spPr>
          <a:xfrm xmlns:a="http://schemas.openxmlformats.org/drawingml/2006/main">
            <a:off x="13906500" y="14793972"/>
            <a:ext cx="3314700" cy="2492256"/>
          </a:xfrm>
          <a:prstGeom xmlns:a="http://schemas.openxmlformats.org/drawingml/2006/main" prst="rect">
            <a:avLst/>
          </a:prstGeom>
        </p:spPr>
      </p:pic>
      <p:sp>
        <p:nvSpPr>
          <p:cNvPr id="64" name="mini-label-1">
            <a:extLst xmlns:a="http://schemas.openxmlformats.org/drawingml/2006/main">
              <a:ext uri="{FF2B5EF4-FFF2-40B4-BE49-F238E27FC236}">
                <a16:creationId xmlns:a16="http://schemas.microsoft.com/office/drawing/2014/main" id="{3CFEDF54-2C1E-44C1-94CF-0715865B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17640300"/>
            <a:ext cx="3314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Bangs</a:t>
            </a:r>
          </a:p>
        </p:txBody>
      </p:sp>
      <p:pic>
        <p:nvPicPr>
          <p:cNvPr id="148" name="图片 16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77d59d6c0c4760"/>
          <a:stretch xmlns:a="http://schemas.openxmlformats.org/drawingml/2006/main"/>
        </p:blipFill>
        <p:spPr>
          <a:xfrm xmlns:a="http://schemas.openxmlformats.org/drawingml/2006/main">
            <a:off x="17487900" y="14793972"/>
            <a:ext cx="3314700" cy="2492256"/>
          </a:xfrm>
          <a:prstGeom xmlns:a="http://schemas.openxmlformats.org/drawingml/2006/main" prst="rect">
            <a:avLst/>
          </a:prstGeom>
        </p:spPr>
      </p:pic>
      <p:sp>
        <p:nvSpPr>
          <p:cNvPr id="66" name="mini-label-2">
            <a:extLst xmlns:a="http://schemas.openxmlformats.org/drawingml/2006/main">
              <a:ext uri="{FF2B5EF4-FFF2-40B4-BE49-F238E27FC236}">
                <a16:creationId xmlns:a16="http://schemas.microsoft.com/office/drawing/2014/main" id="{5ECAB89F-F125-4AF0-8A7D-EEC5F3B6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17640300"/>
            <a:ext cx="3314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Blond Hair</a:t>
            </a:r>
          </a:p>
        </p:txBody>
      </p:sp>
      <p:sp>
        <p:nvSpPr>
          <p:cNvPr id="67" name="qualitative-caption">
            <a:extLst xmlns:a="http://schemas.openxmlformats.org/drawingml/2006/main">
              <a:ext uri="{FF2B5EF4-FFF2-40B4-BE49-F238E27FC236}">
                <a16:creationId xmlns:a16="http://schemas.microsoft.com/office/drawing/2014/main" id="{93BBD756-2CC1-4FF5-BDD3-2BEED460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18097500"/>
            <a:ext cx="10782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72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Columns: static w=2, interval CFG, target-only, full CRH-CFG. Rows are selected by frozen rules: maximum-margin success, nearest evaluator boundary, minimum-margin failure.</a:t>
            </a:r>
          </a:p>
        </p:txBody>
      </p:sp>
      <p:sp>
        <p:nvSpPr>
          <p:cNvPr id="68" name="boundary-0">
            <a:extLst xmlns:a="http://schemas.openxmlformats.org/drawingml/2006/main">
              <a:ext uri="{FF2B5EF4-FFF2-40B4-BE49-F238E27FC236}">
                <a16:creationId xmlns:a16="http://schemas.microsoft.com/office/drawing/2014/main" id="{9D89A732-96F7-4C9F-9AAF-8B8FC581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9164300"/>
            <a:ext cx="10706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3DE"/>
          </a:solidFill>
          <a:ln xmlns:a="http://schemas.openxmlformats.org/drawingml/2006/main" w="19050">
            <a:solidFill>
              <a:srgbClr val="E7B768"/>
            </a:solidFill>
            <a:prstDash val="solid"/>
          </a:ln>
        </p:spPr>
      </p:sp>
      <p:sp>
        <p:nvSpPr>
          <p:cNvPr id="69" name="boundary-head-0">
            <a:extLst xmlns:a="http://schemas.openxmlformats.org/drawingml/2006/main">
              <a:ext uri="{FF2B5EF4-FFF2-40B4-BE49-F238E27FC236}">
                <a16:creationId xmlns:a16="http://schemas.microsoft.com/office/drawing/2014/main" id="{08CBB7A9-C02F-40F3-85F6-72D3C829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93167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Reachability</a:t>
            </a:r>
          </a:p>
        </p:txBody>
      </p:sp>
      <p:sp>
        <p:nvSpPr>
          <p:cNvPr id="70" name="boundary-body-0">
            <a:extLst xmlns:a="http://schemas.openxmlformats.org/drawingml/2006/main">
              <a:ext uri="{FF2B5EF4-FFF2-40B4-BE49-F238E27FC236}">
                <a16:creationId xmlns:a16="http://schemas.microsoft.com/office/drawing/2014/main" id="{69DA98B9-9F61-403E-AC70-13BCE045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9307175"/>
            <a:ext cx="840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One scalar direction cannot make every constraint feasible.</a:t>
            </a:r>
          </a:p>
        </p:txBody>
      </p:sp>
      <p:sp>
        <p:nvSpPr>
          <p:cNvPr id="71" name="boundary-1">
            <a:extLst xmlns:a="http://schemas.openxmlformats.org/drawingml/2006/main">
              <a:ext uri="{FF2B5EF4-FFF2-40B4-BE49-F238E27FC236}">
                <a16:creationId xmlns:a16="http://schemas.microsoft.com/office/drawing/2014/main" id="{EF351F20-B842-402C-8A9E-EDCAEF8D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9983450"/>
            <a:ext cx="10706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9050">
            <a:solidFill>
              <a:srgbClr val="D7DCE2"/>
            </a:solidFill>
            <a:prstDash val="solid"/>
          </a:ln>
        </p:spPr>
      </p:sp>
      <p:sp>
        <p:nvSpPr>
          <p:cNvPr id="72" name="boundary-head-1">
            <a:extLst xmlns:a="http://schemas.openxmlformats.org/drawingml/2006/main">
              <a:ext uri="{FF2B5EF4-FFF2-40B4-BE49-F238E27FC236}">
                <a16:creationId xmlns:a16="http://schemas.microsoft.com/office/drawing/2014/main" id="{589DC68C-2FB2-4D0C-BD23-64C33F36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01358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Proxy activity</a:t>
            </a:r>
          </a:p>
        </p:txBody>
      </p:sp>
      <p:sp>
        <p:nvSpPr>
          <p:cNvPr id="73" name="boundary-body-1">
            <a:extLst xmlns:a="http://schemas.openxmlformats.org/drawingml/2006/main">
              <a:ext uri="{FF2B5EF4-FFF2-40B4-BE49-F238E27FC236}">
                <a16:creationId xmlns:a16="http://schemas.microsoft.com/office/drawing/2014/main" id="{6DBDB128-C2EC-420B-85F6-3FE1C6C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0126325"/>
            <a:ext cx="840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The selected preservation budget never changes the finite-set argmin.</a:t>
            </a:r>
          </a:p>
        </p:txBody>
      </p:sp>
      <p:sp>
        <p:nvSpPr>
          <p:cNvPr id="74" name="boundary-2">
            <a:extLst xmlns:a="http://schemas.openxmlformats.org/drawingml/2006/main">
              <a:ext uri="{FF2B5EF4-FFF2-40B4-BE49-F238E27FC236}">
                <a16:creationId xmlns:a16="http://schemas.microsoft.com/office/drawing/2014/main" id="{6D610173-B9F6-48C9-A953-9FEF1FEA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802600"/>
            <a:ext cx="10706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9050">
            <a:solidFill>
              <a:srgbClr val="D7DCE2"/>
            </a:solidFill>
            <a:prstDash val="solid"/>
          </a:ln>
        </p:spPr>
      </p:sp>
      <p:sp>
        <p:nvSpPr>
          <p:cNvPr id="75" name="boundary-head-2">
            <a:extLst xmlns:a="http://schemas.openxmlformats.org/drawingml/2006/main">
              <a:ext uri="{FF2B5EF4-FFF2-40B4-BE49-F238E27FC236}">
                <a16:creationId xmlns:a16="http://schemas.microsoft.com/office/drawing/2014/main" id="{F912BE3D-6A25-483A-A916-012D1D5F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09550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Measurement</a:t>
            </a:r>
          </a:p>
        </p:txBody>
      </p:sp>
      <p:sp>
        <p:nvSpPr>
          <p:cNvPr id="76" name="boundary-body-2">
            <a:extLst xmlns:a="http://schemas.openxmlformats.org/drawingml/2006/main">
              <a:ext uri="{FF2B5EF4-FFF2-40B4-BE49-F238E27FC236}">
                <a16:creationId xmlns:a16="http://schemas.microsoft.com/office/drawing/2014/main" id="{E7DF1B14-647A-488B-ACB3-EDA0FF12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0945475"/>
            <a:ext cx="840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Endpoint scores from F_ctrl do not guarantee final outcomes under F_eval.</a:t>
            </a:r>
          </a:p>
        </p:txBody>
      </p:sp>
      <p:sp>
        <p:nvSpPr>
          <p:cNvPr id="77" name="dynamics-panel">
            <a:extLst xmlns:a="http://schemas.openxmlformats.org/drawingml/2006/main">
              <a:ext uri="{FF2B5EF4-FFF2-40B4-BE49-F238E27FC236}">
                <a16:creationId xmlns:a16="http://schemas.microsoft.com/office/drawing/2014/main" id="{EF967123-F9BC-4A56-9104-C4454164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288500"/>
            <a:ext cx="10096500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CE2"/>
            </a:solidFill>
            <a:prstDash val="solid"/>
          </a:ln>
        </p:spPr>
      </p:sp>
      <p:sp>
        <p:nvSpPr>
          <p:cNvPr id="78" name="dynamics-accent">
            <a:extLst xmlns:a="http://schemas.openxmlformats.org/drawingml/2006/main">
              <a:ext uri="{FF2B5EF4-FFF2-40B4-BE49-F238E27FC236}">
                <a16:creationId xmlns:a16="http://schemas.microsoft.com/office/drawing/2014/main" id="{003CD458-7E74-47FF-859E-1D53C878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28850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 w="19050">
            <a:solidFill>
              <a:srgbClr val="1F6F8B"/>
            </a:solidFill>
            <a:prstDash val="solid"/>
          </a:ln>
        </p:spPr>
      </p:sp>
      <p:sp>
        <p:nvSpPr>
          <p:cNvPr id="79" name="dynamics-title">
            <a:extLst xmlns:a="http://schemas.openxmlformats.org/drawingml/2006/main">
              <a:ext uri="{FF2B5EF4-FFF2-40B4-BE49-F238E27FC236}">
                <a16:creationId xmlns:a16="http://schemas.microsoft.com/office/drawing/2014/main" id="{EBBB510C-3F01-4894-9A82-301421FA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171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F6F8B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1F6F8B"/>
                </a:solidFill>
                <a:latin typeface="Optima"/>
                <a:ea typeface="Optima"/>
                <a:cs typeface="Optima"/>
              </a:rPr>
              <a:t>Adaptation concentrates on difficult trajectories</a:t>
            </a:r>
          </a:p>
        </p:txBody>
      </p:sp>
      <p:pic>
        <p:nvPicPr>
          <p:cNvPr id="163" name="图片 17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1a0d81acc4956"/>
          <a:stretch xmlns:a="http://schemas.openxmlformats.org/drawingml/2006/main"/>
        </p:blipFill>
        <p:spPr>
          <a:xfrm xmlns:a="http://schemas.openxmlformats.org/drawingml/2006/main">
            <a:off x="762000" y="23214542"/>
            <a:ext cx="6191250" cy="4815417"/>
          </a:xfrm>
          <a:prstGeom xmlns:a="http://schemas.openxmlformats.org/drawingml/2006/main" prst="rect">
            <a:avLst/>
          </a:prstGeom>
        </p:spPr>
      </p:pic>
      <p:sp>
        <p:nvSpPr>
          <p:cNvPr id="81" name="dynamics-copy">
            <a:extLst xmlns:a="http://schemas.openxmlformats.org/drawingml/2006/main">
              <a:ext uri="{FF2B5EF4-FFF2-40B4-BE49-F238E27FC236}">
                <a16:creationId xmlns:a16="http://schemas.microsoft.com/office/drawing/2014/main" id="{DDE9AE4E-9568-47EB-9BE2-353E2037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183850"/>
            <a:ext cx="31432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At the last saved decision (s=0.9):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Smiling   mean w 2.017 | fallback 5.7%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Bangs     mean w 2.085 | fallback 17.6%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Blond     mean w 2.186 | fallback 1.6%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Median and IQR remain w=2 at every saved decision. CRH-CFG mainly corrects a minority of hard samples.</a:t>
            </a:r>
          </a:p>
        </p:txBody>
      </p:sp>
      <p:sp>
        <p:nvSpPr>
          <p:cNvPr id="82" name="evidence-panel">
            <a:extLst xmlns:a="http://schemas.openxmlformats.org/drawingml/2006/main">
              <a:ext uri="{FF2B5EF4-FFF2-40B4-BE49-F238E27FC236}">
                <a16:creationId xmlns:a16="http://schemas.microsoft.com/office/drawing/2014/main" id="{11CFA0D4-EDF0-45E1-9E97-244B707E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2288500"/>
            <a:ext cx="10629900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CE2"/>
            </a:solidFill>
            <a:prstDash val="solid"/>
          </a:ln>
        </p:spPr>
      </p:sp>
      <p:sp>
        <p:nvSpPr>
          <p:cNvPr id="83" name="evidence-accent">
            <a:extLst xmlns:a="http://schemas.openxmlformats.org/drawingml/2006/main">
              <a:ext uri="{FF2B5EF4-FFF2-40B4-BE49-F238E27FC236}">
                <a16:creationId xmlns:a16="http://schemas.microsoft.com/office/drawing/2014/main" id="{F54DA2ED-1B5A-4898-A067-44B2B251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228850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800"/>
          </a:solidFill>
          <a:ln xmlns:a="http://schemas.openxmlformats.org/drawingml/2006/main" w="19050">
            <a:solidFill>
              <a:srgbClr val="B76800"/>
            </a:solidFill>
            <a:prstDash val="solid"/>
          </a:ln>
        </p:spPr>
      </p:sp>
      <p:sp>
        <p:nvSpPr>
          <p:cNvPr id="84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2D77E684-3497-4CEC-9410-45DFA57F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22517100"/>
            <a:ext cx="10058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B76800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B76800"/>
                </a:solidFill>
                <a:latin typeface="Optima"/>
                <a:ea typeface="Optima"/>
                <a:cs typeface="Optima"/>
              </a:rPr>
              <a:t>What the ablations and failures teach us</a:t>
            </a:r>
          </a:p>
        </p:txBody>
      </p:sp>
      <p:sp>
        <p:nvSpPr>
          <p:cNvPr id="85" name="evidence-dot-0">
            <a:extLst xmlns:a="http://schemas.openxmlformats.org/drawingml/2006/main">
              <a:ext uri="{FF2B5EF4-FFF2-40B4-BE49-F238E27FC236}">
                <a16:creationId xmlns:a16="http://schemas.microsoft.com/office/drawing/2014/main" id="{51962AA1-D38E-460A-969A-F8AA0EC8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1457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evidence-head-0">
            <a:extLst xmlns:a="http://schemas.openxmlformats.org/drawingml/2006/main">
              <a:ext uri="{FF2B5EF4-FFF2-40B4-BE49-F238E27FC236}">
                <a16:creationId xmlns:a16="http://schemas.microsoft.com/office/drawing/2014/main" id="{C343A284-E121-44C5-972F-5B3E321A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308860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Reliability gate is essential</a:t>
            </a:r>
          </a:p>
        </p:txBody>
      </p:sp>
      <p:sp>
        <p:nvSpPr>
          <p:cNvPr id="87" name="evidence-body-0">
            <a:extLst xmlns:a="http://schemas.openxmlformats.org/drawingml/2006/main">
              <a:ext uri="{FF2B5EF4-FFF2-40B4-BE49-F238E27FC236}">
                <a16:creationId xmlns:a16="http://schemas.microsoft.com/office/drawing/2014/main" id="{A5A6B553-02A1-4AC1-BDC7-BB9BF2FC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3488650"/>
            <a:ext cx="895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Removing it drops reduced-protocol success from 98.83% to 91.54%.</a:t>
            </a:r>
          </a:p>
        </p:txBody>
      </p:sp>
      <p:sp>
        <p:nvSpPr>
          <p:cNvPr id="88" name="evidence-dot-1">
            <a:extLst xmlns:a="http://schemas.openxmlformats.org/drawingml/2006/main">
              <a:ext uri="{FF2B5EF4-FFF2-40B4-BE49-F238E27FC236}">
                <a16:creationId xmlns:a16="http://schemas.microsoft.com/office/drawing/2014/main" id="{9F6987CB-E271-4F96-A4C5-262D2421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4345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8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evidence-head-1">
            <a:extLst xmlns:a="http://schemas.openxmlformats.org/drawingml/2006/main">
              <a:ext uri="{FF2B5EF4-FFF2-40B4-BE49-F238E27FC236}">
                <a16:creationId xmlns:a16="http://schemas.microsoft.com/office/drawing/2014/main" id="{1F492D82-B593-4DC3-841C-BA1595BC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428875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Preservation budget is non-binding</a:t>
            </a:r>
          </a:p>
        </p:txBody>
      </p:sp>
      <p:sp>
        <p:nvSpPr>
          <p:cNvPr id="90" name="evidence-body-1">
            <a:extLst xmlns:a="http://schemas.openxmlformats.org/drawingml/2006/main">
              <a:ext uri="{FF2B5EF4-FFF2-40B4-BE49-F238E27FC236}">
                <a16:creationId xmlns:a16="http://schemas.microsoft.com/office/drawing/2014/main" id="{FA2AEA28-EB6D-4F22-926B-E44C057A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4688800"/>
            <a:ext cx="895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Adding the preservation term changes no reported reduced-controller value.</a:t>
            </a:r>
          </a:p>
        </p:txBody>
      </p:sp>
      <p:sp>
        <p:nvSpPr>
          <p:cNvPr id="91" name="evidence-dot-2">
            <a:extLst xmlns:a="http://schemas.openxmlformats.org/drawingml/2006/main">
              <a:ext uri="{FF2B5EF4-FFF2-40B4-BE49-F238E27FC236}">
                <a16:creationId xmlns:a16="http://schemas.microsoft.com/office/drawing/2014/main" id="{8B60CC5D-3E13-4E7E-BC58-FC0549DF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55460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8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evidence-head-2">
            <a:extLst xmlns:a="http://schemas.openxmlformats.org/drawingml/2006/main">
              <a:ext uri="{FF2B5EF4-FFF2-40B4-BE49-F238E27FC236}">
                <a16:creationId xmlns:a16="http://schemas.microsoft.com/office/drawing/2014/main" id="{2B73C3A3-FEBA-4A27-BE94-E2759282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548890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Extra scale saturates</a:t>
            </a:r>
          </a:p>
        </p:txBody>
      </p:sp>
      <p:sp>
        <p:nvSpPr>
          <p:cNvPr id="93" name="evidence-body-2">
            <a:extLst xmlns:a="http://schemas.openxmlformats.org/drawingml/2006/main">
              <a:ext uri="{FF2B5EF4-FFF2-40B4-BE49-F238E27FC236}">
                <a16:creationId xmlns:a16="http://schemas.microsoft.com/office/drawing/2014/main" id="{9AB4515F-1C5D-40E8-A43F-31A83332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5888950"/>
            <a:ext cx="895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14:m xmlns:a14="http://schemas.microsoft.com/office/drawing/2010/main">
              <m:oMathPara xmlns:m="http://schemas.openxmlformats.org/officeDocument/2006/math">
                <m:oMath>
                  <m:sSub>
                    <m:e>
                      <m:r>
                        <a:rPr xmlns:a="http://schemas.openxmlformats.org/drawingml/2006/main" lang="en-SG" sz="1800" b="0" i="1">
                          <a:solidFill>
                            <a:srgbClr val="52606D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𝑤</m:t>
                      </m:r>
                    </m:e>
                    <m:sub>
                      <m:r>
                        <a:rPr xmlns:a="http://schemas.openxmlformats.org/drawingml/2006/main" lang="en-SG" sz="1800" b="0" i="1">
                          <a:solidFill>
                            <a:srgbClr val="52606D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𝑚𝑎𝑥</m:t>
                      </m:r>
                    </m:sub>
                  </m:sSub>
                </m:oMath>
              </m:oMathPara>
            </a14:m>
            <a:r>
              <a:rPr sz="18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 2 -&gt; 3 adds +0.26 pp; 3 -&gt; 4 adds 0.00 pp.</a:t>
            </a:r>
          </a:p>
        </p:txBody>
      </p:sp>
      <p:sp>
        <p:nvSpPr>
          <p:cNvPr id="94" name="evidence-dot-3">
            <a:extLst xmlns:a="http://schemas.openxmlformats.org/drawingml/2006/main">
              <a:ext uri="{FF2B5EF4-FFF2-40B4-BE49-F238E27FC236}">
                <a16:creationId xmlns:a16="http://schemas.microsoft.com/office/drawing/2014/main" id="{4D583FFF-CECD-45BE-86CE-92F60278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7462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8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evidence-head-3">
            <a:extLst xmlns:a="http://schemas.openxmlformats.org/drawingml/2006/main">
              <a:ext uri="{FF2B5EF4-FFF2-40B4-BE49-F238E27FC236}">
                <a16:creationId xmlns:a16="http://schemas.microsoft.com/office/drawing/2014/main" id="{4590CF6F-9F59-445D-AA6A-E92DBC11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668905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Scalar authority is limited</a:t>
            </a:r>
          </a:p>
        </p:txBody>
      </p:sp>
      <p:sp>
        <p:nvSpPr>
          <p:cNvPr id="96" name="evidence-body-3">
            <a:extLst xmlns:a="http://schemas.openxmlformats.org/drawingml/2006/main">
              <a:ext uri="{FF2B5EF4-FFF2-40B4-BE49-F238E27FC236}">
                <a16:creationId xmlns:a16="http://schemas.microsoft.com/office/drawing/2014/main" id="{0A96837F-9C26-4E05-A7C6-66C8E47A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7089100"/>
            <a:ext cx="895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Selected failures reach high fallback or w=4 without crossing the evaluator boundary.</a:t>
            </a:r>
          </a:p>
        </p:txBody>
      </p:sp>
      <p:sp>
        <p:nvSpPr>
          <p:cNvPr id="97" name="evidence-conclusion">
            <a:extLst xmlns:a="http://schemas.openxmlformats.org/drawingml/2006/main">
              <a:ext uri="{FF2B5EF4-FFF2-40B4-BE49-F238E27FC236}">
                <a16:creationId xmlns:a16="http://schemas.microsoft.com/office/drawing/2014/main" id="{3B7AB0D7-6A64-4D1F-A8E3-A73FD843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8041600"/>
            <a:ext cx="97917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9050">
            <a:solidFill>
              <a:srgbClr val="8CCDBB"/>
            </a:solidFill>
            <a:prstDash val="solid"/>
          </a:ln>
        </p:spPr>
      </p:sp>
      <p:sp>
        <p:nvSpPr>
          <p:cNvPr id="98" name="evidence-conclusion-copy">
            <a:extLst xmlns:a="http://schemas.openxmlformats.org/drawingml/2006/main">
              <a:ext uri="{FF2B5EF4-FFF2-40B4-BE49-F238E27FC236}">
                <a16:creationId xmlns:a16="http://schemas.microsoft.com/office/drawing/2014/main" id="{D3926A62-3330-4E75-8427-C939B1EB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8100" y="2819400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0D7C66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D7C66"/>
                </a:solidFill>
                <a:latin typeface="Arial"/>
                <a:ea typeface="Arial"/>
                <a:cs typeface="Arial"/>
              </a:rPr>
              <a:t>Supported: low-overhead adaptive correction. Not supported: joint adherence-preservation-quality improvement.</a:t>
            </a:r>
          </a:p>
        </p:txBody>
      </p:sp>
      <p:sp>
        <p:nvSpPr>
          <p:cNvPr id="9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F0EEB95-E16E-41B9-A932-3934A0C2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00"/>
            <a:ext cx="21031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1230"/>
          </a:solidFill>
          <a:ln xmlns:a="http://schemas.openxmlformats.org/drawingml/2006/main" w="19050">
            <a:solidFill>
              <a:srgbClr val="C41230"/>
            </a:solidFill>
            <a:prstDash val="solid"/>
          </a:ln>
        </p:spPr>
      </p:sp>
      <p:sp>
        <p:nvSpPr>
          <p:cNvPr id="100" name="footer-repro-title">
            <a:extLst xmlns:a="http://schemas.openxmlformats.org/drawingml/2006/main">
              <a:ext uri="{FF2B5EF4-FFF2-40B4-BE49-F238E27FC236}">
                <a16:creationId xmlns:a16="http://schemas.microsoft.com/office/drawing/2014/main" id="{08286707-11D5-405D-A5A6-DE76B99E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8132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10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Reproducibility &amp; compute</a:t>
            </a:r>
          </a:p>
        </p:txBody>
      </p:sp>
      <p:sp>
        <p:nvSpPr>
          <p:cNvPr id="101" name="footer-repro-copy">
            <a:extLst xmlns:a="http://schemas.openxmlformats.org/drawingml/2006/main">
              <a:ext uri="{FF2B5EF4-FFF2-40B4-BE49-F238E27FC236}">
                <a16:creationId xmlns:a16="http://schemas.microsoft.com/office/drawing/2014/main" id="{04949516-1BAD-43ED-B677-81CB5B34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308550"/>
            <a:ext cx="666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3 targets x 1,000 paired seeds | frozen checkpoint/split | 19 tests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HW4: 3.824 measured L40S GPU-h | HW3 training: 2.688 estimated | qualified total: 6.512 GPU-h</a:t>
            </a:r>
          </a:p>
        </p:txBody>
      </p:sp>
      <p:sp>
        <p:nvSpPr>
          <p:cNvPr id="102" name="footer-refs-title">
            <a:extLst xmlns:a="http://schemas.openxmlformats.org/drawingml/2006/main">
              <a:ext uri="{FF2B5EF4-FFF2-40B4-BE49-F238E27FC236}">
                <a16:creationId xmlns:a16="http://schemas.microsoft.com/office/drawing/2014/main" id="{F813767D-EC92-40B8-A7B3-A1161E72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8132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10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Selected references</a:t>
            </a:r>
          </a:p>
        </p:txBody>
      </p:sp>
      <p:sp>
        <p:nvSpPr>
          <p:cNvPr id="103" name="footer-refs-copy">
            <a:extLst xmlns:a="http://schemas.openxmlformats.org/drawingml/2006/main">
              <a:ext uri="{FF2B5EF4-FFF2-40B4-BE49-F238E27FC236}">
                <a16:creationId xmlns:a16="http://schemas.microsoft.com/office/drawing/2014/main" id="{CA31342C-6BE4-4D73-9322-2F748C01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308550"/>
            <a:ext cx="695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Lipman et al., Flow Matching, 2023 | Ho &amp; Salimans, CFG, 2022 | Guided Flows, 2023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Limited Guidance Interval / CADS, 2024 | Online feedback, 2025 | CFG++ / Rectified-CFG++, 2024-25</a:t>
            </a:r>
          </a:p>
        </p:txBody>
      </p:sp>
      <p:sp>
        <p:nvSpPr>
          <p:cNvPr id="104" name="footer-disclosure-title">
            <a:extLst xmlns:a="http://schemas.openxmlformats.org/drawingml/2006/main">
              <a:ext uri="{FF2B5EF4-FFF2-40B4-BE49-F238E27FC236}">
                <a16:creationId xmlns:a16="http://schemas.microsoft.com/office/drawing/2014/main" id="{20680EB1-B252-44B0-BF91-572F19A6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298132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10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Resources &amp; disclosure</a:t>
            </a:r>
          </a:p>
        </p:txBody>
      </p:sp>
      <p:sp>
        <p:nvSpPr>
          <p:cNvPr id="105" name="footer-disclosure-copy">
            <a:extLst xmlns:a="http://schemas.openxmlformats.org/drawingml/2006/main">
              <a:ext uri="{FF2B5EF4-FFF2-40B4-BE49-F238E27FC236}">
                <a16:creationId xmlns:a16="http://schemas.microsoft.com/office/drawing/2014/main" id="{03123308-876E-4FD2-A01D-C8D3E0E3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30308550"/>
            <a:ext cx="619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Built independently from the course starter repository and cited papers. OpenAI Codex assisted implementation, analysis, writing, and poster production; all displayed numbers were checked against retained artifacts.</a:t>
            </a:r>
          </a:p>
        </p:txBody>
      </p:sp>
      <p:sp>
        <p:nvSpPr>
          <p:cNvPr id="106" name="footer-url">
            <a:extLst xmlns:a="http://schemas.openxmlformats.org/drawingml/2006/main">
              <a:ext uri="{FF2B5EF4-FFF2-40B4-BE49-F238E27FC236}">
                <a16:creationId xmlns:a16="http://schemas.microsoft.com/office/drawing/2014/main" id="{D649C918-A67A-4184-8395-C85C7E4F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0"/>
            <a:ext cx="2103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CMU 10-799 Spring 2026 | Final Poster Presentation</a:t>
            </a:r>
          </a:p>
        </p:txBody>
      </p:sp>
      <p:pic>
        <p:nvPicPr>
          <p:cNvPr id="1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7760425b8429c"/>
          <a:stretch xmlns:a="http://schemas.openxmlformats.org/drawingml/2006/main"/>
        </p:blipFill>
        <p:spPr>
          <a:xfrm xmlns:a="http://schemas.openxmlformats.org/drawingml/2006/main">
            <a:off x="8059625" y="6934200"/>
            <a:ext cx="12798650" cy="6076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3405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2026-07-18T04:03:53.7190000Z</dcterms:created>
  <dcterms:modified xsi:type="dcterms:W3CDTF">2026-07-18T04:03:53.7190000Z</dcterms:modified>
</coreProperties>
</file>